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2"/>
  </p:notesMasterIdLst>
  <p:sldIdLst>
    <p:sldId id="400" r:id="rId3"/>
    <p:sldId id="265" r:id="rId4"/>
    <p:sldId id="2147309730" r:id="rId5"/>
    <p:sldId id="2147309727" r:id="rId6"/>
    <p:sldId id="2147309728" r:id="rId7"/>
    <p:sldId id="2147309729" r:id="rId8"/>
    <p:sldId id="2147309732" r:id="rId9"/>
    <p:sldId id="2147309733" r:id="rId10"/>
    <p:sldId id="2147309739" r:id="rId11"/>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19" autoAdjust="0"/>
    <p:restoredTop sz="93575" autoAdjust="0"/>
  </p:normalViewPr>
  <p:slideViewPr>
    <p:cSldViewPr>
      <p:cViewPr varScale="1">
        <p:scale>
          <a:sx n="139" d="100"/>
          <a:sy n="139" d="100"/>
        </p:scale>
        <p:origin x="132" y="22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4/22/2026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tibco.com/resources/whitepaper/definitive-guide-integrating-salesforce-your-erp-system"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US" dirty="0"/>
          </a:p>
          <a:p>
            <a:r>
              <a:rPr lang="en-US" dirty="0"/>
              <a:t>KEY POINT :   We need to increase our Operational Consistency by applying even more Automation!</a:t>
            </a:r>
          </a:p>
          <a:p>
            <a:endParaRPr lang="en-US" dirty="0"/>
          </a:p>
          <a:p>
            <a:r>
              <a:rPr lang="en-US" dirty="0"/>
              <a:t>Everyone naturally expects consistent data.   Good business decisions depend upon insights gained from consistent business operations analytics.  Even so, few seem to understand the intrinsic relationship between business operations capability and resultant quality of analytical information.  Business sponsors often expect consistency in reporting that would be impossible without corresponding prior operations enablement.</a:t>
            </a:r>
          </a:p>
          <a:p>
            <a:endParaRPr lang="en-US" dirty="0"/>
          </a:p>
          <a:p>
            <a:r>
              <a:rPr lang="en-US" dirty="0"/>
              <a:t>The following illustration depicts this correspondence.  You may recognize that the shape of the curve between the axis is exponential and not directly proportional.  This shape works in our favor per the following observations.</a:t>
            </a:r>
          </a:p>
          <a:p>
            <a:endParaRPr lang="en-US" dirty="0"/>
          </a:p>
          <a:p>
            <a:r>
              <a:rPr lang="en-US" dirty="0"/>
              <a:t>•	A slight increase in Operational Consistency (i.e. a movement to the right along the horizontal axis) results in a dramatic increase in Data Consistency (i.e. upward movement along the vertical axis).  In other words, a small operational improvement can go a long way.</a:t>
            </a:r>
          </a:p>
          <a:p>
            <a:endParaRPr lang="en-US" dirty="0"/>
          </a:p>
          <a:p>
            <a:r>
              <a:rPr lang="en-US" dirty="0"/>
              <a:t>•	How can we know our consistency position on this curve?   That’s a function of metrics.  Operational Consistency measurements provide insights into where we are at any point in time.</a:t>
            </a:r>
          </a:p>
          <a:p>
            <a:endParaRPr lang="en-US" dirty="0"/>
          </a:p>
          <a:p>
            <a:r>
              <a:rPr lang="en-US" dirty="0"/>
              <a:t>•	How can we improve our consistency position?  That’s the art and science of Operations Management involving People, Processes, and Technologies.  Or, more specifically, the organizational application of Roles, Workflow, and Automation to business processes.  </a:t>
            </a: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2715014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prstGeom prst="rect">
            <a:avLst/>
          </a:prstGeom>
        </p:spPr>
        <p:txBody>
          <a:bodyPr/>
          <a:lstStyle/>
          <a:p>
            <a:endParaRPr/>
          </a:p>
        </p:txBody>
      </p:sp>
      <p:sp>
        <p:nvSpPr>
          <p:cNvPr id="149" name="Shape 149"/>
          <p:cNvSpPr>
            <a:spLocks noGrp="1"/>
          </p:cNvSpPr>
          <p:nvPr>
            <p:ph type="body" sz="quarter" idx="1"/>
          </p:nvPr>
        </p:nvSpPr>
        <p:spPr>
          <a:prstGeom prst="rect">
            <a:avLst/>
          </a:prstGeom>
        </p:spPr>
        <p:txBody>
          <a:bodyPr>
            <a:normAutofit fontScale="92500" lnSpcReduction="20000"/>
          </a:bodyPr>
          <a:lstStyle/>
          <a:p>
            <a:endParaRPr dirty="0"/>
          </a:p>
          <a:p>
            <a:r>
              <a:rPr dirty="0"/>
              <a:t>KEY POINT :   We need to increase our Operational Consistency by applying even more Automation!</a:t>
            </a:r>
          </a:p>
          <a:p>
            <a:endParaRPr dirty="0"/>
          </a:p>
          <a:p>
            <a:r>
              <a:rPr dirty="0"/>
              <a:t>Everyone naturally expects consistent data.   Good business decisions depend upon insights gained from consistent business operations analytics.  Even so, few seem to understand the intrinsic relationship between business operations capability and resultant quality of analytical information.  Business sponsors often expect consistency in reporting that would be impossible without corresponding prior operations enablement.</a:t>
            </a:r>
          </a:p>
          <a:p>
            <a:endParaRPr dirty="0"/>
          </a:p>
          <a:p>
            <a:r>
              <a:rPr dirty="0"/>
              <a:t>The following illustration depicts this correspondence.  You may recognize that the shape of the curve between the axis is exponential and not directly proportional.  This shape works in our favor per the following observations.</a:t>
            </a:r>
          </a:p>
          <a:p>
            <a:endParaRPr dirty="0"/>
          </a:p>
          <a:p>
            <a:r>
              <a:rPr dirty="0"/>
              <a:t>•	A slight increase in Operational Consistency (i.e. a movement to the right along the horizontal axis) results in a dramatic increase in Data Consistency (i.e. upward movement along the vertical axis).  In other words, a small operational improvement can go a long way.</a:t>
            </a:r>
          </a:p>
          <a:p>
            <a:endParaRPr dirty="0"/>
          </a:p>
          <a:p>
            <a:r>
              <a:rPr dirty="0"/>
              <a:t>•	How can we know our consistency position on this curve?   That’s a function of metrics.  Operational Consistency measurements provide insights into where we are at any point in time.</a:t>
            </a:r>
          </a:p>
          <a:p>
            <a:endParaRPr dirty="0"/>
          </a:p>
          <a:p>
            <a:r>
              <a:rPr dirty="0"/>
              <a:t>•	How can we improve our consistency position?  That’s the art and science of Operations Management involving People, Processes, and Technologies.  Or, more specifically, the organizational application of Roles, Workflow, and Automation to business processes.  </a:t>
            </a:r>
          </a:p>
        </p:txBody>
      </p:sp>
    </p:spTree>
    <p:extLst>
      <p:ext uri="{BB962C8B-B14F-4D97-AF65-F5344CB8AC3E}">
        <p14:creationId xmlns:p14="http://schemas.microsoft.com/office/powerpoint/2010/main" val="1202178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dirty="0">
                <a:solidFill>
                  <a:schemeClr val="tx1"/>
                </a:solidFill>
                <a:effectLst/>
                <a:latin typeface="+mn-lt"/>
                <a:ea typeface="+mn-ea"/>
                <a:cs typeface="+mn-cs"/>
              </a:rPr>
              <a:t>How can iPaaS help the business?</a:t>
            </a:r>
          </a:p>
          <a:p>
            <a:r>
              <a:rPr lang="en-US" sz="1200" kern="1200" dirty="0">
                <a:solidFill>
                  <a:schemeClr val="tx1"/>
                </a:solidFill>
                <a:effectLst/>
                <a:latin typeface="+mn-lt"/>
                <a:ea typeface="+mn-ea"/>
                <a:cs typeface="+mn-cs"/>
              </a:rPr>
              <a:t> </a:t>
            </a:r>
          </a:p>
          <a:p>
            <a:pPr lvl="0" fontAlgn="ctr"/>
            <a:r>
              <a:rPr lang="en-US" sz="1200" kern="1200" dirty="0">
                <a:solidFill>
                  <a:schemeClr val="tx1"/>
                </a:solidFill>
                <a:effectLst/>
                <a:latin typeface="+mn-lt"/>
                <a:ea typeface="+mn-ea"/>
                <a:cs typeface="+mn-cs"/>
              </a:rPr>
              <a:t>You can accelerate your integration initiatives.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With iPaaS, you can significantly reduce the time it takes to integrate applications, making integrations available much more quickly to speed your digital transformation initiatives.</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You can spend more time on higher value integration activities.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Because it provides pre-built, validated connectors that are already integrated with application-specific APIs, with iPaaS, you won’t have to write low-level connectivity code. The iPaaS vendor commits to maintaining connectors and ensuring compatibility with key applications.</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You can expand your integration capacity.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high-level tools of iPaaS can be used by your integration specialists, business analysts, and even citizen integrators, allowing you to expand the pool of people creating and managing your integrations. This not only accelerates the availability of new integrations, it also reduces the burden on your IT department so that they can focus on higher value activities.</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You can change your integrations rapidly.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Because your business and the technologies you use change constantly, iPaaS helps you adapt quickly with a consistent user interface that lets you update or evolve your integrations to match—a requirement of most digital transformation efforts.</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You can progress your transformation into a digital business.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digital business exploits digital technologies to create new business models in which the physical and digital worlds combine. Among its many characteristics, a digital business operates at a high speed and efficiency. iPaaS helps progress your transformation toward becoming a digital business, breaking down barriers between data silos and integrating them together. It makes the right information available to the right people instantly so that they can make decisions and take action quickly. This not only helps people work smarter, but also more efficiently because integrating applications and data can automate much of your business processes by eliminating unnecessary manual data entry.</a:t>
            </a:r>
          </a:p>
          <a:p>
            <a:pPr lvl="0" fontAlgn="ctr"/>
            <a:endParaRPr lang="en-US" sz="1200" kern="1200" dirty="0">
              <a:solidFill>
                <a:schemeClr val="tx1"/>
              </a:solidFill>
              <a:effectLst/>
              <a:latin typeface="+mn-lt"/>
              <a:ea typeface="+mn-ea"/>
              <a:cs typeface="+mn-cs"/>
            </a:endParaRPr>
          </a:p>
          <a:p>
            <a:pPr lvl="0" fontAlgn="ct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What can you use iPaaS for?</a:t>
            </a:r>
          </a:p>
          <a:p>
            <a:r>
              <a:rPr lang="en-US" sz="1200" kern="1200" dirty="0">
                <a:solidFill>
                  <a:schemeClr val="tx1"/>
                </a:solidFill>
                <a:effectLst/>
                <a:latin typeface="+mn-lt"/>
                <a:ea typeface="+mn-ea"/>
                <a:cs typeface="+mn-cs"/>
              </a:rPr>
              <a:t>An iPaaS is a vital component within a digital transformation initiative. No matter where you host your data and applications (in the cloud or on-premises), iPaaS can help you:</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Exchange data between your applications in near real-time to streamline your business processes, enhance your customer and employee experiences, and empower your corporate decision makers. For example, you can integrate your Salesforce Sales Cloud instances with your on-premises enterprise-level ERP platform like Microsoft Dynamics AX or a cloud-based ERP solution like Microsoft Dynamics 365 Operations to give your end users of both systems complete views into your customer and order-fulfillment activities. Learn </a:t>
            </a:r>
            <a:r>
              <a:rPr lang="en-US" sz="1200" u="sng" kern="1200" dirty="0">
                <a:solidFill>
                  <a:schemeClr val="tx1"/>
                </a:solidFill>
                <a:effectLst/>
                <a:latin typeface="+mn-lt"/>
                <a:ea typeface="+mn-ea"/>
                <a:cs typeface="+mn-cs"/>
                <a:hlinkClick r:id="rId3"/>
              </a:rPr>
              <a:t>best practices</a:t>
            </a:r>
            <a:r>
              <a:rPr lang="en-US" sz="1200" kern="1200" dirty="0">
                <a:solidFill>
                  <a:schemeClr val="tx1"/>
                </a:solidFill>
                <a:effectLst/>
                <a:latin typeface="+mn-lt"/>
                <a:ea typeface="+mn-ea"/>
                <a:cs typeface="+mn-cs"/>
              </a:rPr>
              <a:t> for creating this type of integration.</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Migrate data from legacy applications to modern, cloud-based business systems to make your business more agile. For example, you can map, transform, and move data from and older business system such as Microsoft Dynamics CRM 4.0 on-premise to a cloud CRM like Salesforce or Microsoft Dynamics 365. iPaaS can help you migrate data such as accounts, contacts and opportunities in the correct order to preserve relationships between the data in the new system. Many companies also use custom fields and custom objects, which the iPaaS can discover and include in the migration process.</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Replicate data on a regular basis for your analytics and archiving processes to help you uncover new insights, or for scheduled financial reporting. You can create a single view of formatted data from multiple data sources within a data warehouse, or raw data within a data lake. You can replicate data continuously or on a scheduled basis. For example, you can replicate the data in a CRM system like Salesforce or Microsoft Dynamics 365 to a local Oracle, MySQL or Microsoft SQL Server database.</a:t>
            </a:r>
          </a:p>
          <a:p>
            <a:pPr lvl="0" fontAlgn="ctr"/>
            <a:endParaRPr lang="en-US" sz="1200" kern="1200" dirty="0">
              <a:solidFill>
                <a:schemeClr val="tx1"/>
              </a:solidFill>
              <a:effectLst/>
              <a:latin typeface="+mn-lt"/>
              <a:ea typeface="+mn-ea"/>
              <a:cs typeface="+mn-cs"/>
            </a:endParaRPr>
          </a:p>
          <a:p>
            <a:pPr lvl="0" fontAlgn="ctr"/>
            <a:r>
              <a:rPr lang="en-US" sz="1200" kern="1200" dirty="0">
                <a:solidFill>
                  <a:schemeClr val="tx1"/>
                </a:solidFill>
                <a:effectLst/>
                <a:latin typeface="+mn-lt"/>
                <a:ea typeface="+mn-ea"/>
                <a:cs typeface="+mn-cs"/>
              </a:rPr>
              <a:t>Integrate external data from sensors and embedded devices into your business processes to gain real-time views of your business environment and the market. iPaaS makes it easier to integrate smart devices that connect to networks outside of your corporate firewall.</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pPr lvl="0" fontAlgn="ctr"/>
            <a:endParaRPr lang="en-US" sz="120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204265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Personas by skill, experience, and tooling can accomplish integrations by type.</a:t>
            </a:r>
          </a:p>
          <a:p>
            <a:endParaRPr lang="en-US" dirty="0"/>
          </a:p>
        </p:txBody>
      </p:sp>
    </p:spTree>
    <p:extLst>
      <p:ext uri="{BB962C8B-B14F-4D97-AF65-F5344CB8AC3E}">
        <p14:creationId xmlns:p14="http://schemas.microsoft.com/office/powerpoint/2010/main" val="902542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Personas by skill, experience, and domain can accomplish integrations by type and by product technology.</a:t>
            </a:r>
          </a:p>
        </p:txBody>
      </p:sp>
    </p:spTree>
    <p:extLst>
      <p:ext uri="{BB962C8B-B14F-4D97-AF65-F5344CB8AC3E}">
        <p14:creationId xmlns:p14="http://schemas.microsoft.com/office/powerpoint/2010/main" val="1154074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0025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9858320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1BC817C-F55B-4295-8F43-84AE5B2ECB67}"/>
              </a:ext>
            </a:extLst>
          </p:cNvPr>
          <p:cNvSpPr>
            <a:spLocks noGrp="1"/>
          </p:cNvSpPr>
          <p:nvPr>
            <p:ph type="sldNum" sz="quarter" idx="10"/>
          </p:nvPr>
        </p:nvSpPr>
        <p:spPr/>
        <p:txBody>
          <a:bodyPr/>
          <a:lstStyle/>
          <a:p>
            <a:fld id="{0B7C44DC-F45C-4D94-96EC-96DC3CAA6F18}" type="slidenum">
              <a:rPr lang="en-US" smtClean="0"/>
              <a:pPr/>
              <a:t>‹#›</a:t>
            </a:fld>
            <a:endParaRPr lang="en-US"/>
          </a:p>
        </p:txBody>
      </p:sp>
      <p:sp>
        <p:nvSpPr>
          <p:cNvPr id="5" name="Text Placeholder 27">
            <a:extLst>
              <a:ext uri="{FF2B5EF4-FFF2-40B4-BE49-F238E27FC236}">
                <a16:creationId xmlns:a16="http://schemas.microsoft.com/office/drawing/2014/main" id="{3ED8D0B0-94CA-43BF-80FF-0E29AFFCD8A6}"/>
              </a:ext>
            </a:extLst>
          </p:cNvPr>
          <p:cNvSpPr>
            <a:spLocks noGrp="1"/>
          </p:cNvSpPr>
          <p:nvPr>
            <p:ph type="body" sz="quarter" idx="13" hasCustomPrompt="1"/>
          </p:nvPr>
        </p:nvSpPr>
        <p:spPr>
          <a:xfrm>
            <a:off x="459606" y="1005840"/>
            <a:ext cx="8228267" cy="411480"/>
          </a:xfrm>
          <a:prstGeom prst="rect">
            <a:avLst/>
          </a:prstGeom>
        </p:spPr>
        <p:txBody>
          <a:bodyPr/>
          <a:lstStyle>
            <a:lvl1pPr marL="0" indent="0">
              <a:lnSpc>
                <a:spcPct val="96000"/>
              </a:lnSpc>
              <a:buNone/>
              <a:defRPr sz="1350" b="0">
                <a:solidFill>
                  <a:schemeClr val="bg2"/>
                </a:solidFill>
              </a:defRPr>
            </a:lvl1pPr>
            <a:lvl2pPr marL="195315" indent="0">
              <a:buNone/>
              <a:defRPr/>
            </a:lvl2pPr>
            <a:lvl3pPr marL="375147" indent="0">
              <a:buNone/>
              <a:defRPr/>
            </a:lvl3pPr>
            <a:lvl4pPr marL="507342" indent="0">
              <a:buNone/>
              <a:defRPr/>
            </a:lvl4pPr>
            <a:lvl5pPr marL="644300" indent="0">
              <a:buNone/>
              <a:defRPr/>
            </a:lvl5pPr>
          </a:lstStyle>
          <a:p>
            <a:pPr lvl="0"/>
            <a:r>
              <a:rPr lang="en-US"/>
              <a:t>Click to add subtitle</a:t>
            </a:r>
          </a:p>
        </p:txBody>
      </p:sp>
      <p:sp>
        <p:nvSpPr>
          <p:cNvPr id="2" name="Title 1">
            <a:extLst>
              <a:ext uri="{FF2B5EF4-FFF2-40B4-BE49-F238E27FC236}">
                <a16:creationId xmlns:a16="http://schemas.microsoft.com/office/drawing/2014/main" id="{F371E706-1803-4651-AC4D-134EE299B67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85297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Line Title and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1BC817C-F55B-4295-8F43-84AE5B2ECB67}"/>
              </a:ext>
            </a:extLst>
          </p:cNvPr>
          <p:cNvSpPr>
            <a:spLocks noGrp="1"/>
          </p:cNvSpPr>
          <p:nvPr>
            <p:ph type="sldNum" sz="quarter" idx="10"/>
          </p:nvPr>
        </p:nvSpPr>
        <p:spPr/>
        <p:txBody>
          <a:bodyPr/>
          <a:lstStyle/>
          <a:p>
            <a:fld id="{0B7C44DC-F45C-4D94-96EC-96DC3CAA6F18}" type="slidenum">
              <a:rPr lang="en-US" smtClean="0"/>
              <a:pPr/>
              <a:t>‹#›</a:t>
            </a:fld>
            <a:endParaRPr lang="en-US"/>
          </a:p>
        </p:txBody>
      </p:sp>
      <p:sp>
        <p:nvSpPr>
          <p:cNvPr id="7" name="Content Placeholder 6">
            <a:extLst>
              <a:ext uri="{FF2B5EF4-FFF2-40B4-BE49-F238E27FC236}">
                <a16:creationId xmlns:a16="http://schemas.microsoft.com/office/drawing/2014/main" id="{850E7E04-20AE-4B2F-8540-51E572404212}"/>
              </a:ext>
            </a:extLst>
          </p:cNvPr>
          <p:cNvSpPr>
            <a:spLocks noGrp="1"/>
          </p:cNvSpPr>
          <p:nvPr>
            <p:ph sz="quarter" idx="11"/>
          </p:nvPr>
        </p:nvSpPr>
        <p:spPr>
          <a:xfrm>
            <a:off x="450173" y="1611313"/>
            <a:ext cx="8237699" cy="4773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328CC11C-F7C7-564B-86B0-EB4F529218E1}"/>
              </a:ext>
            </a:extLst>
          </p:cNvPr>
          <p:cNvSpPr>
            <a:spLocks noGrp="1"/>
          </p:cNvSpPr>
          <p:nvPr>
            <p:ph type="title"/>
          </p:nvPr>
        </p:nvSpPr>
        <p:spPr>
          <a:xfrm>
            <a:off x="459606" y="530352"/>
            <a:ext cx="8228267" cy="457200"/>
          </a:xfrm>
        </p:spPr>
        <p:txBody>
          <a:bodyPr anchor="t"/>
          <a:lstStyle/>
          <a:p>
            <a:r>
              <a:rPr lang="en-US"/>
              <a:t>Click to edit Master title style</a:t>
            </a:r>
          </a:p>
        </p:txBody>
      </p:sp>
    </p:spTree>
    <p:extLst>
      <p:ext uri="{BB962C8B-B14F-4D97-AF65-F5344CB8AC3E}">
        <p14:creationId xmlns:p14="http://schemas.microsoft.com/office/powerpoint/2010/main" val="742303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 and Large Photo">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42F8EC0-4F62-4D42-ACD1-63B2F1E67E7E}"/>
              </a:ext>
            </a:extLst>
          </p:cNvPr>
          <p:cNvSpPr>
            <a:spLocks noGrp="1"/>
          </p:cNvSpPr>
          <p:nvPr>
            <p:ph sz="quarter" idx="19"/>
          </p:nvPr>
        </p:nvSpPr>
        <p:spPr>
          <a:xfrm>
            <a:off x="459701" y="2403475"/>
            <a:ext cx="2641202" cy="3981450"/>
          </a:xfrm>
        </p:spPr>
        <p:txBody>
          <a:bodyPr/>
          <a:lstStyle>
            <a:lvl1pPr>
              <a:defRPr sz="1500"/>
            </a:lvl1pPr>
            <a:lvl2pPr>
              <a:defRPr sz="1350"/>
            </a:lvl2pPr>
            <a:lvl3pPr>
              <a:defRPr sz="1200"/>
            </a:lvl3pPr>
            <a:lvl4pPr>
              <a:defRPr sz="105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20F7BD00-8C32-4AD9-AFEE-E977230E713A}"/>
              </a:ext>
            </a:extLst>
          </p:cNvPr>
          <p:cNvSpPr>
            <a:spLocks noGrp="1"/>
          </p:cNvSpPr>
          <p:nvPr>
            <p:ph type="sldNum" sz="quarter" idx="10"/>
          </p:nvPr>
        </p:nvSpPr>
        <p:spPr/>
        <p:txBody>
          <a:bodyPr/>
          <a:lstStyle/>
          <a:p>
            <a:fld id="{0B7C44DC-F45C-4D94-96EC-96DC3CAA6F18}" type="slidenum">
              <a:rPr lang="en-US" smtClean="0"/>
              <a:pPr/>
              <a:t>‹#›</a:t>
            </a:fld>
            <a:endParaRPr lang="en-US"/>
          </a:p>
        </p:txBody>
      </p:sp>
      <p:sp>
        <p:nvSpPr>
          <p:cNvPr id="11" name="Picture Placeholder 10">
            <a:extLst>
              <a:ext uri="{FF2B5EF4-FFF2-40B4-BE49-F238E27FC236}">
                <a16:creationId xmlns:a16="http://schemas.microsoft.com/office/drawing/2014/main" id="{48F7EC33-851A-470E-AA53-1F062B5632B0}"/>
              </a:ext>
            </a:extLst>
          </p:cNvPr>
          <p:cNvSpPr>
            <a:spLocks noGrp="1"/>
          </p:cNvSpPr>
          <p:nvPr>
            <p:ph type="pic" sz="quarter" idx="13"/>
          </p:nvPr>
        </p:nvSpPr>
        <p:spPr>
          <a:xfrm>
            <a:off x="3197661" y="0"/>
            <a:ext cx="5946339" cy="6858000"/>
          </a:xfrm>
          <a:solidFill>
            <a:schemeClr val="accent2">
              <a:lumMod val="20000"/>
              <a:lumOff val="80000"/>
            </a:schemeClr>
          </a:solidFill>
        </p:spPr>
        <p:txBody>
          <a:bodyPr/>
          <a:lstStyle/>
          <a:p>
            <a:r>
              <a:rPr lang="en-US"/>
              <a:t>Click icon to add picture</a:t>
            </a:r>
          </a:p>
        </p:txBody>
      </p:sp>
      <p:sp>
        <p:nvSpPr>
          <p:cNvPr id="4" name="Title 3">
            <a:extLst>
              <a:ext uri="{FF2B5EF4-FFF2-40B4-BE49-F238E27FC236}">
                <a16:creationId xmlns:a16="http://schemas.microsoft.com/office/drawing/2014/main" id="{DB4E97AA-794A-3848-89D8-62030EAB5FC0}"/>
              </a:ext>
            </a:extLst>
          </p:cNvPr>
          <p:cNvSpPr>
            <a:spLocks noGrp="1"/>
          </p:cNvSpPr>
          <p:nvPr>
            <p:ph type="title"/>
          </p:nvPr>
        </p:nvSpPr>
        <p:spPr>
          <a:xfrm>
            <a:off x="459606" y="533122"/>
            <a:ext cx="2641295" cy="457200"/>
          </a:xfrm>
        </p:spPr>
        <p:txBody>
          <a:bodyPr anchor="t"/>
          <a:lstStyle/>
          <a:p>
            <a:r>
              <a:rPr lang="en-US"/>
              <a:t>Click to edit Master title style</a:t>
            </a:r>
          </a:p>
        </p:txBody>
      </p:sp>
      <p:sp>
        <p:nvSpPr>
          <p:cNvPr id="10" name="Text Placeholder 14">
            <a:extLst>
              <a:ext uri="{FF2B5EF4-FFF2-40B4-BE49-F238E27FC236}">
                <a16:creationId xmlns:a16="http://schemas.microsoft.com/office/drawing/2014/main" id="{7CF155B5-357F-2A4E-B68D-9A4B6B7E392C}"/>
              </a:ext>
            </a:extLst>
          </p:cNvPr>
          <p:cNvSpPr>
            <a:spLocks noGrp="1"/>
          </p:cNvSpPr>
          <p:nvPr>
            <p:ph type="body" sz="quarter" idx="18" hasCustomPrompt="1"/>
          </p:nvPr>
        </p:nvSpPr>
        <p:spPr>
          <a:xfrm>
            <a:off x="459701" y="1756568"/>
            <a:ext cx="2641202" cy="411480"/>
          </a:xfrm>
        </p:spPr>
        <p:txBody>
          <a:bodyPr/>
          <a:lstStyle>
            <a:lvl1pPr>
              <a:lnSpc>
                <a:spcPct val="95000"/>
              </a:lnSpc>
              <a:defRPr sz="1800" b="0" spc="0" baseline="0"/>
            </a:lvl1pPr>
          </a:lstStyle>
          <a:p>
            <a:pPr lvl="0"/>
            <a:r>
              <a:rPr lang="en-US"/>
              <a:t>Click to add subtitle</a:t>
            </a:r>
          </a:p>
        </p:txBody>
      </p:sp>
      <p:pic>
        <p:nvPicPr>
          <p:cNvPr id="8" name="Picture 7">
            <a:extLst>
              <a:ext uri="{FF2B5EF4-FFF2-40B4-BE49-F238E27FC236}">
                <a16:creationId xmlns:a16="http://schemas.microsoft.com/office/drawing/2014/main" id="{7D55BE09-F4F8-4AA4-A9A7-51A7035903A5}"/>
              </a:ext>
            </a:extLst>
          </p:cNvPr>
          <p:cNvPicPr>
            <a:picLocks noChangeAspect="1"/>
          </p:cNvPicPr>
          <p:nvPr userDrawn="1"/>
        </p:nvPicPr>
        <p:blipFill>
          <a:blip r:embed="rId2"/>
          <a:stretch>
            <a:fillRect/>
          </a:stretch>
        </p:blipFill>
        <p:spPr>
          <a:xfrm>
            <a:off x="8298842" y="6492557"/>
            <a:ext cx="386751" cy="249877"/>
          </a:xfrm>
          <a:prstGeom prst="rect">
            <a:avLst/>
          </a:prstGeom>
        </p:spPr>
      </p:pic>
    </p:spTree>
    <p:extLst>
      <p:ext uri="{BB962C8B-B14F-4D97-AF65-F5344CB8AC3E}">
        <p14:creationId xmlns:p14="http://schemas.microsoft.com/office/powerpoint/2010/main" val="323895052"/>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 id="2147484152" r:id="rId3"/>
    <p:sldLayoutId id="2147484153" r:id="rId4"/>
    <p:sldLayoutId id="2147484154" r:id="rId5"/>
    <p:sldLayoutId id="2147484155" r:id="rId6"/>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3F243EA-64B1-4FF9-A19A-8FC5B6C68103}"/>
              </a:ext>
            </a:extLst>
          </p:cNvPr>
          <p:cNvSpPr>
            <a:spLocks noGrp="1"/>
          </p:cNvSpPr>
          <p:nvPr>
            <p:ph type="sldNum" sz="quarter" idx="11"/>
          </p:nvPr>
        </p:nvSpPr>
        <p:spPr/>
        <p:txBody>
          <a:bodyPr/>
          <a:lstStyle/>
          <a:p>
            <a:pPr>
              <a:defRPr/>
            </a:pPr>
            <a:fld id="{90314B7E-EB23-4DAB-A3F0-0F7BBB6CDA33}" type="slidenum">
              <a:rPr lang="en-US" smtClean="0"/>
              <a:pPr>
                <a:defRPr/>
              </a:pPr>
              <a:t>1</a:t>
            </a:fld>
            <a:endParaRPr lang="en-US" dirty="0"/>
          </a:p>
        </p:txBody>
      </p:sp>
      <p:sp>
        <p:nvSpPr>
          <p:cNvPr id="5" name="Title 1">
            <a:extLst>
              <a:ext uri="{FF2B5EF4-FFF2-40B4-BE49-F238E27FC236}">
                <a16:creationId xmlns:a16="http://schemas.microsoft.com/office/drawing/2014/main" id="{48166376-188C-4839-A245-E06AF7E2EFF6}"/>
              </a:ext>
            </a:extLst>
          </p:cNvPr>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Technology Adoption </a:t>
            </a:r>
          </a:p>
          <a:p>
            <a:r>
              <a:rPr lang="en-US" sz="2400" dirty="0">
                <a:solidFill>
                  <a:schemeClr val="tx2">
                    <a:lumMod val="60000"/>
                    <a:lumOff val="40000"/>
                  </a:schemeClr>
                </a:solidFill>
              </a:rPr>
              <a:t>An Example of Capability Envisioning… </a:t>
            </a:r>
          </a:p>
        </p:txBody>
      </p:sp>
      <p:grpSp>
        <p:nvGrpSpPr>
          <p:cNvPr id="6" name="Group">
            <a:extLst>
              <a:ext uri="{FF2B5EF4-FFF2-40B4-BE49-F238E27FC236}">
                <a16:creationId xmlns:a16="http://schemas.microsoft.com/office/drawing/2014/main" id="{375DD104-CA52-4CBE-B2F7-56D62EE62ED1}"/>
              </a:ext>
            </a:extLst>
          </p:cNvPr>
          <p:cNvGrpSpPr/>
          <p:nvPr/>
        </p:nvGrpSpPr>
        <p:grpSpPr>
          <a:xfrm>
            <a:off x="762000" y="2209800"/>
            <a:ext cx="6621099" cy="4346936"/>
            <a:chOff x="-4681" y="0"/>
            <a:chExt cx="9416673" cy="6182308"/>
          </a:xfrm>
        </p:grpSpPr>
        <p:sp>
          <p:nvSpPr>
            <p:cNvPr id="7" name="Line">
              <a:extLst>
                <a:ext uri="{FF2B5EF4-FFF2-40B4-BE49-F238E27FC236}">
                  <a16:creationId xmlns:a16="http://schemas.microsoft.com/office/drawing/2014/main" id="{96F51DFC-F536-4698-A008-CFC42E54D597}"/>
                </a:ext>
              </a:extLst>
            </p:cNvPr>
            <p:cNvSpPr/>
            <p:nvPr/>
          </p:nvSpPr>
          <p:spPr>
            <a:xfrm>
              <a:off x="996669" y="5333358"/>
              <a:ext cx="8415323" cy="1"/>
            </a:xfrm>
            <a:prstGeom prst="line">
              <a:avLst/>
            </a:prstGeom>
            <a:noFill/>
            <a:ln w="101600" cap="flat">
              <a:solidFill>
                <a:srgbClr val="000000"/>
              </a:solidFill>
              <a:prstDash val="solid"/>
              <a:miter lim="400000"/>
              <a:tailEnd type="triangle" w="med" len="med"/>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8" name="Line">
              <a:extLst>
                <a:ext uri="{FF2B5EF4-FFF2-40B4-BE49-F238E27FC236}">
                  <a16:creationId xmlns:a16="http://schemas.microsoft.com/office/drawing/2014/main" id="{BA3461B3-C126-46E9-8521-2D628FD2AE04}"/>
                </a:ext>
              </a:extLst>
            </p:cNvPr>
            <p:cNvSpPr/>
            <p:nvPr/>
          </p:nvSpPr>
          <p:spPr>
            <a:xfrm flipV="1">
              <a:off x="1047469" y="0"/>
              <a:ext cx="1" cy="5371459"/>
            </a:xfrm>
            <a:prstGeom prst="line">
              <a:avLst/>
            </a:prstGeom>
            <a:noFill/>
            <a:ln w="101600" cap="flat">
              <a:solidFill>
                <a:srgbClr val="000000"/>
              </a:solidFill>
              <a:prstDash val="solid"/>
              <a:miter lim="400000"/>
              <a:tailEnd type="triangle" w="med" len="med"/>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9" name="Operational Consistency">
              <a:extLst>
                <a:ext uri="{FF2B5EF4-FFF2-40B4-BE49-F238E27FC236}">
                  <a16:creationId xmlns:a16="http://schemas.microsoft.com/office/drawing/2014/main" id="{2208D36C-C259-405B-99EA-F086D2FC5016}"/>
                </a:ext>
              </a:extLst>
            </p:cNvPr>
            <p:cNvSpPr txBox="1"/>
            <p:nvPr/>
          </p:nvSpPr>
          <p:spPr>
            <a:xfrm>
              <a:off x="2256483" y="5525809"/>
              <a:ext cx="4645193" cy="6564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3600"/>
              </a:lvl1pPr>
            </a:lstStyle>
            <a:p>
              <a:r>
                <a:rPr sz="2531"/>
                <a:t>Operational Consistency</a:t>
              </a:r>
            </a:p>
          </p:txBody>
        </p:sp>
        <p:sp>
          <p:nvSpPr>
            <p:cNvPr id="10" name="Data Consistency">
              <a:extLst>
                <a:ext uri="{FF2B5EF4-FFF2-40B4-BE49-F238E27FC236}">
                  <a16:creationId xmlns:a16="http://schemas.microsoft.com/office/drawing/2014/main" id="{745C46D8-F0C6-4480-BAC3-20D9BEDF90B8}"/>
                </a:ext>
              </a:extLst>
            </p:cNvPr>
            <p:cNvSpPr txBox="1"/>
            <p:nvPr/>
          </p:nvSpPr>
          <p:spPr>
            <a:xfrm rot="16200000">
              <a:off x="-1326114" y="2357479"/>
              <a:ext cx="3299366" cy="6564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3600"/>
              </a:lvl1pPr>
            </a:lstStyle>
            <a:p>
              <a:r>
                <a:rPr sz="2531"/>
                <a:t>Data Consistency</a:t>
              </a:r>
            </a:p>
          </p:txBody>
        </p:sp>
      </p:grpSp>
      <p:grpSp>
        <p:nvGrpSpPr>
          <p:cNvPr id="11" name="Group 10">
            <a:extLst>
              <a:ext uri="{FF2B5EF4-FFF2-40B4-BE49-F238E27FC236}">
                <a16:creationId xmlns:a16="http://schemas.microsoft.com/office/drawing/2014/main" id="{DE88CE9D-ACD3-4078-864E-83E8C5B417DB}"/>
              </a:ext>
            </a:extLst>
          </p:cNvPr>
          <p:cNvGrpSpPr/>
          <p:nvPr/>
        </p:nvGrpSpPr>
        <p:grpSpPr>
          <a:xfrm>
            <a:off x="6340100" y="2938269"/>
            <a:ext cx="1372926" cy="955219"/>
            <a:chOff x="7782127" y="2702381"/>
            <a:chExt cx="1372926" cy="955219"/>
          </a:xfrm>
        </p:grpSpPr>
        <p:sp>
          <p:nvSpPr>
            <p:cNvPr id="12" name="Line">
              <a:extLst>
                <a:ext uri="{FF2B5EF4-FFF2-40B4-BE49-F238E27FC236}">
                  <a16:creationId xmlns:a16="http://schemas.microsoft.com/office/drawing/2014/main" id="{4E91FCB3-F663-4044-9D03-C0E1C3E23FD5}"/>
                </a:ext>
              </a:extLst>
            </p:cNvPr>
            <p:cNvSpPr/>
            <p:nvPr/>
          </p:nvSpPr>
          <p:spPr>
            <a:xfrm flipH="1" flipV="1">
              <a:off x="7782127" y="2702381"/>
              <a:ext cx="577881" cy="697506"/>
            </a:xfrm>
            <a:prstGeom prst="line">
              <a:avLst/>
            </a:prstGeom>
            <a:noFill/>
            <a:ln w="25400" cap="flat">
              <a:solidFill>
                <a:srgbClr val="000000"/>
              </a:solidFill>
              <a:prstDash val="solid"/>
              <a:miter lim="400000"/>
              <a:tailEnd type="triangle" w="med" len="med"/>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dirty="0"/>
            </a:p>
          </p:txBody>
        </p:sp>
        <p:sp>
          <p:nvSpPr>
            <p:cNvPr id="13" name="Metrics">
              <a:extLst>
                <a:ext uri="{FF2B5EF4-FFF2-40B4-BE49-F238E27FC236}">
                  <a16:creationId xmlns:a16="http://schemas.microsoft.com/office/drawing/2014/main" id="{2945F1A0-C8A5-460C-AB6F-1119B564976D}"/>
                </a:ext>
              </a:extLst>
            </p:cNvPr>
            <p:cNvSpPr txBox="1"/>
            <p:nvPr/>
          </p:nvSpPr>
          <p:spPr>
            <a:xfrm>
              <a:off x="8341814" y="3339243"/>
              <a:ext cx="813239" cy="31835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numCol="1" anchor="ctr">
              <a:spAutoFit/>
            </a:bodyPr>
            <a:lstStyle/>
            <a:p>
              <a:r>
                <a:rPr sz="1600" dirty="0"/>
                <a:t>Metrics</a:t>
              </a:r>
            </a:p>
          </p:txBody>
        </p:sp>
      </p:grpSp>
      <p:grpSp>
        <p:nvGrpSpPr>
          <p:cNvPr id="14" name="Group">
            <a:extLst>
              <a:ext uri="{FF2B5EF4-FFF2-40B4-BE49-F238E27FC236}">
                <a16:creationId xmlns:a16="http://schemas.microsoft.com/office/drawing/2014/main" id="{F01497CE-D22A-4BB3-9F36-74341C173728}"/>
              </a:ext>
            </a:extLst>
          </p:cNvPr>
          <p:cNvGrpSpPr/>
          <p:nvPr/>
        </p:nvGrpSpPr>
        <p:grpSpPr>
          <a:xfrm>
            <a:off x="2450382" y="1796842"/>
            <a:ext cx="4159254" cy="318357"/>
            <a:chOff x="0" y="4145"/>
            <a:chExt cx="5915382" cy="452772"/>
          </a:xfrm>
        </p:grpSpPr>
        <p:sp>
          <p:nvSpPr>
            <p:cNvPr id="15" name="Line">
              <a:extLst>
                <a:ext uri="{FF2B5EF4-FFF2-40B4-BE49-F238E27FC236}">
                  <a16:creationId xmlns:a16="http://schemas.microsoft.com/office/drawing/2014/main" id="{D399758A-A9D3-4593-AFD8-4B5DD82FB058}"/>
                </a:ext>
              </a:extLst>
            </p:cNvPr>
            <p:cNvSpPr/>
            <p:nvPr/>
          </p:nvSpPr>
          <p:spPr>
            <a:xfrm>
              <a:off x="0" y="449514"/>
              <a:ext cx="5915382" cy="1"/>
            </a:xfrm>
            <a:prstGeom prst="line">
              <a:avLst/>
            </a:prstGeom>
            <a:noFill/>
            <a:ln w="25400" cap="flat">
              <a:solidFill>
                <a:srgbClr val="000000"/>
              </a:solidFill>
              <a:prstDash val="solid"/>
              <a:miter lim="400000"/>
              <a:tailEnd type="triangle" w="med" len="med"/>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16" name="Roles + Workflow + Automation">
              <a:extLst>
                <a:ext uri="{FF2B5EF4-FFF2-40B4-BE49-F238E27FC236}">
                  <a16:creationId xmlns:a16="http://schemas.microsoft.com/office/drawing/2014/main" id="{B5003828-D705-4983-BB7F-94CA4364ADA6}"/>
                </a:ext>
              </a:extLst>
            </p:cNvPr>
            <p:cNvSpPr txBox="1"/>
            <p:nvPr/>
          </p:nvSpPr>
          <p:spPr>
            <a:xfrm>
              <a:off x="778044" y="4145"/>
              <a:ext cx="3905616" cy="45277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p>
              <a:r>
                <a:rPr sz="1600" dirty="0"/>
                <a:t>Roles + Workflow + </a:t>
              </a:r>
              <a:r>
                <a:rPr sz="1600" b="1" i="1" dirty="0">
                  <a:solidFill>
                    <a:srgbClr val="C00000"/>
                  </a:solidFill>
                </a:rPr>
                <a:t>Automation</a:t>
              </a:r>
            </a:p>
          </p:txBody>
        </p:sp>
      </p:grpSp>
      <p:sp>
        <p:nvSpPr>
          <p:cNvPr id="17" name="Connection Line">
            <a:extLst>
              <a:ext uri="{FF2B5EF4-FFF2-40B4-BE49-F238E27FC236}">
                <a16:creationId xmlns:a16="http://schemas.microsoft.com/office/drawing/2014/main" id="{06CBD0CA-7D03-402D-ACC9-9E588A34F076}"/>
              </a:ext>
            </a:extLst>
          </p:cNvPr>
          <p:cNvSpPr/>
          <p:nvPr/>
        </p:nvSpPr>
        <p:spPr>
          <a:xfrm>
            <a:off x="1819867" y="2627776"/>
            <a:ext cx="5026962" cy="301694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087" y="8417"/>
                  <a:pt x="11287" y="1217"/>
                  <a:pt x="21600" y="0"/>
                </a:cubicBezTo>
              </a:path>
            </a:pathLst>
          </a:custGeom>
          <a:solidFill>
            <a:schemeClr val="bg1"/>
          </a:solidFill>
          <a:ln w="127000" cap="flat">
            <a:solidFill>
              <a:schemeClr val="accent6">
                <a:lumMod val="75000"/>
              </a:schemeClr>
            </a:solidFill>
            <a:prstDash val="solid"/>
            <a:miter lim="400000"/>
          </a:ln>
          <a:effectLst/>
        </p:spPr>
        <p:txBody>
          <a:bodyPr/>
          <a:lstStyle/>
          <a:p>
            <a:endParaRPr sz="1266" dirty="0"/>
          </a:p>
        </p:txBody>
      </p:sp>
      <p:grpSp>
        <p:nvGrpSpPr>
          <p:cNvPr id="18" name="Group 17">
            <a:extLst>
              <a:ext uri="{FF2B5EF4-FFF2-40B4-BE49-F238E27FC236}">
                <a16:creationId xmlns:a16="http://schemas.microsoft.com/office/drawing/2014/main" id="{A70305C0-578E-4F66-835C-A070AD13DDC1}"/>
              </a:ext>
            </a:extLst>
          </p:cNvPr>
          <p:cNvGrpSpPr/>
          <p:nvPr/>
        </p:nvGrpSpPr>
        <p:grpSpPr>
          <a:xfrm>
            <a:off x="2216168" y="3229999"/>
            <a:ext cx="3466506" cy="1947309"/>
            <a:chOff x="3658195" y="2994111"/>
            <a:chExt cx="3466506" cy="1947309"/>
          </a:xfrm>
        </p:grpSpPr>
        <p:sp>
          <p:nvSpPr>
            <p:cNvPr id="19" name="Circle">
              <a:extLst>
                <a:ext uri="{FF2B5EF4-FFF2-40B4-BE49-F238E27FC236}">
                  <a16:creationId xmlns:a16="http://schemas.microsoft.com/office/drawing/2014/main" id="{B5E651A4-7448-4B5A-ABDE-A052E8A3DA31}"/>
                </a:ext>
              </a:extLst>
            </p:cNvPr>
            <p:cNvSpPr/>
            <p:nvPr/>
          </p:nvSpPr>
          <p:spPr>
            <a:xfrm>
              <a:off x="3658195" y="4420195"/>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27FF3B"/>
                  </a:solidFill>
                  <a:latin typeface="+mn-lt"/>
                  <a:ea typeface="+mn-ea"/>
                  <a:cs typeface="+mn-cs"/>
                  <a:sym typeface="Helvetica Neue Medium"/>
                </a:defRPr>
              </a:pPr>
              <a:endParaRPr sz="1547"/>
            </a:p>
          </p:txBody>
        </p:sp>
        <p:sp>
          <p:nvSpPr>
            <p:cNvPr id="20" name="Circle">
              <a:extLst>
                <a:ext uri="{FF2B5EF4-FFF2-40B4-BE49-F238E27FC236}">
                  <a16:creationId xmlns:a16="http://schemas.microsoft.com/office/drawing/2014/main" id="{1E120C94-34DE-4A30-B3D9-A39664CCBDB0}"/>
                </a:ext>
              </a:extLst>
            </p:cNvPr>
            <p:cNvSpPr/>
            <p:nvPr/>
          </p:nvSpPr>
          <p:spPr>
            <a:xfrm>
              <a:off x="4104679" y="3896915"/>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21" name="Circle">
              <a:extLst>
                <a:ext uri="{FF2B5EF4-FFF2-40B4-BE49-F238E27FC236}">
                  <a16:creationId xmlns:a16="http://schemas.microsoft.com/office/drawing/2014/main" id="{09A208D5-7094-4229-8739-E32B90EE8819}"/>
                </a:ext>
              </a:extLst>
            </p:cNvPr>
            <p:cNvSpPr/>
            <p:nvPr/>
          </p:nvSpPr>
          <p:spPr>
            <a:xfrm>
              <a:off x="4613672" y="3467385"/>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22" name="Asset Management">
              <a:extLst>
                <a:ext uri="{FF2B5EF4-FFF2-40B4-BE49-F238E27FC236}">
                  <a16:creationId xmlns:a16="http://schemas.microsoft.com/office/drawing/2014/main" id="{1BB2D682-B728-4CCD-B1CB-7B58247E944B}"/>
                </a:ext>
              </a:extLst>
            </p:cNvPr>
            <p:cNvSpPr txBox="1"/>
            <p:nvPr/>
          </p:nvSpPr>
          <p:spPr>
            <a:xfrm>
              <a:off x="3752055" y="4674487"/>
              <a:ext cx="1350819" cy="2669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1800"/>
              </a:lvl1pPr>
            </a:lstStyle>
            <a:p>
              <a:r>
                <a:rPr sz="1266" dirty="0"/>
                <a:t>Asset Management</a:t>
              </a:r>
            </a:p>
          </p:txBody>
        </p:sp>
        <p:sp>
          <p:nvSpPr>
            <p:cNvPr id="23" name="Power Management">
              <a:extLst>
                <a:ext uri="{FF2B5EF4-FFF2-40B4-BE49-F238E27FC236}">
                  <a16:creationId xmlns:a16="http://schemas.microsoft.com/office/drawing/2014/main" id="{A981B78F-AA5C-497D-9CB6-13B96E7136D8}"/>
                </a:ext>
              </a:extLst>
            </p:cNvPr>
            <p:cNvSpPr txBox="1"/>
            <p:nvPr/>
          </p:nvSpPr>
          <p:spPr>
            <a:xfrm>
              <a:off x="4284890" y="4075466"/>
              <a:ext cx="1408912" cy="2669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1800"/>
              </a:lvl1pPr>
            </a:lstStyle>
            <a:p>
              <a:r>
                <a:rPr sz="1266" dirty="0"/>
                <a:t>Power Management</a:t>
              </a:r>
            </a:p>
          </p:txBody>
        </p:sp>
        <p:sp>
          <p:nvSpPr>
            <p:cNvPr id="24" name="Change Management">
              <a:extLst>
                <a:ext uri="{FF2B5EF4-FFF2-40B4-BE49-F238E27FC236}">
                  <a16:creationId xmlns:a16="http://schemas.microsoft.com/office/drawing/2014/main" id="{EAEC5128-BA04-4DD5-959B-54798EDCC76A}"/>
                </a:ext>
              </a:extLst>
            </p:cNvPr>
            <p:cNvSpPr txBox="1"/>
            <p:nvPr/>
          </p:nvSpPr>
          <p:spPr>
            <a:xfrm>
              <a:off x="4859256" y="3617331"/>
              <a:ext cx="1485023" cy="2669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1800"/>
              </a:lvl1pPr>
            </a:lstStyle>
            <a:p>
              <a:r>
                <a:rPr sz="1266" dirty="0"/>
                <a:t>Change Management</a:t>
              </a:r>
            </a:p>
          </p:txBody>
        </p:sp>
        <p:sp>
          <p:nvSpPr>
            <p:cNvPr id="25" name="Circle">
              <a:extLst>
                <a:ext uri="{FF2B5EF4-FFF2-40B4-BE49-F238E27FC236}">
                  <a16:creationId xmlns:a16="http://schemas.microsoft.com/office/drawing/2014/main" id="{A9E30164-C239-4753-98E5-6600B64A7E26}"/>
                </a:ext>
              </a:extLst>
            </p:cNvPr>
            <p:cNvSpPr/>
            <p:nvPr/>
          </p:nvSpPr>
          <p:spPr>
            <a:xfrm>
              <a:off x="5362773" y="2994111"/>
              <a:ext cx="278607" cy="278607"/>
            </a:xfrm>
            <a:prstGeom prst="ellipse">
              <a:avLst/>
            </a:prstGeom>
            <a:solidFill>
              <a:schemeClr val="accent1">
                <a:lumOff val="-13575"/>
              </a:schemeClr>
            </a:solidFill>
            <a:ln w="12700" cap="flat">
              <a:noFill/>
              <a:miter lim="400000"/>
            </a:ln>
            <a:effectLst/>
          </p:spPr>
          <p:txBody>
            <a:bodyPr wrap="square" lIns="35719" tIns="35719" rIns="35719" bIns="35719" numCol="1" anchor="ctr">
              <a:noAutofit/>
            </a:bodyPr>
            <a:lstStyle/>
            <a:p>
              <a:pPr>
                <a:defRPr sz="2200" b="0">
                  <a:solidFill>
                    <a:srgbClr val="FFFFFF"/>
                  </a:solidFill>
                  <a:latin typeface="+mn-lt"/>
                  <a:ea typeface="+mn-ea"/>
                  <a:cs typeface="+mn-cs"/>
                  <a:sym typeface="Helvetica Neue Medium"/>
                </a:defRPr>
              </a:pPr>
              <a:endParaRPr sz="1547"/>
            </a:p>
          </p:txBody>
        </p:sp>
        <p:sp>
          <p:nvSpPr>
            <p:cNvPr id="26" name="Capacity Management">
              <a:extLst>
                <a:ext uri="{FF2B5EF4-FFF2-40B4-BE49-F238E27FC236}">
                  <a16:creationId xmlns:a16="http://schemas.microsoft.com/office/drawing/2014/main" id="{67DAFB54-350C-48DA-859E-6D4AC991E202}"/>
                </a:ext>
              </a:extLst>
            </p:cNvPr>
            <p:cNvSpPr txBox="1"/>
            <p:nvPr/>
          </p:nvSpPr>
          <p:spPr>
            <a:xfrm>
              <a:off x="5567800" y="3159454"/>
              <a:ext cx="1556901" cy="26693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numCol="1" anchor="ctr">
              <a:spAutoFit/>
            </a:bodyPr>
            <a:lstStyle>
              <a:lvl1pPr>
                <a:defRPr sz="1800"/>
              </a:lvl1pPr>
            </a:lstStyle>
            <a:p>
              <a:r>
                <a:rPr sz="1266" dirty="0"/>
                <a:t>Capacity Management</a:t>
              </a:r>
            </a:p>
          </p:txBody>
        </p:sp>
      </p:grpSp>
      <p:sp>
        <p:nvSpPr>
          <p:cNvPr id="27" name="Business Insights">
            <a:extLst>
              <a:ext uri="{FF2B5EF4-FFF2-40B4-BE49-F238E27FC236}">
                <a16:creationId xmlns:a16="http://schemas.microsoft.com/office/drawing/2014/main" id="{E020A1DF-A45F-4C05-9721-F8FA9197031C}"/>
              </a:ext>
            </a:extLst>
          </p:cNvPr>
          <p:cNvSpPr/>
          <p:nvPr/>
        </p:nvSpPr>
        <p:spPr>
          <a:xfrm>
            <a:off x="1236454" y="3093388"/>
            <a:ext cx="1314578" cy="904671"/>
          </a:xfrm>
          <a:prstGeom prst="wedgeEllipseCallout">
            <a:avLst>
              <a:gd name="adj1" fmla="val -49385"/>
              <a:gd name="adj2" fmla="val 64307"/>
            </a:avLst>
          </a:prstGeom>
          <a:solidFill>
            <a:schemeClr val="accent6">
              <a:lumMod val="5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a:defRPr sz="2200" b="0">
                <a:solidFill>
                  <a:srgbClr val="FFFFFF"/>
                </a:solidFill>
                <a:latin typeface="+mn-lt"/>
                <a:ea typeface="+mn-ea"/>
                <a:cs typeface="+mn-cs"/>
                <a:sym typeface="Helvetica Neue Medium"/>
              </a:defRPr>
            </a:lvl1pPr>
          </a:lstStyle>
          <a:p>
            <a:r>
              <a:rPr sz="1547"/>
              <a:t>Business Insights</a:t>
            </a:r>
          </a:p>
        </p:txBody>
      </p:sp>
      <p:sp>
        <p:nvSpPr>
          <p:cNvPr id="28" name="We actually need more automation!">
            <a:extLst>
              <a:ext uri="{FF2B5EF4-FFF2-40B4-BE49-F238E27FC236}">
                <a16:creationId xmlns:a16="http://schemas.microsoft.com/office/drawing/2014/main" id="{C85DD6A1-99BE-4391-B576-D1E75B50BCF1}"/>
              </a:ext>
            </a:extLst>
          </p:cNvPr>
          <p:cNvSpPr/>
          <p:nvPr/>
        </p:nvSpPr>
        <p:spPr>
          <a:xfrm>
            <a:off x="6601852" y="937796"/>
            <a:ext cx="1619836" cy="1127006"/>
          </a:xfrm>
          <a:prstGeom prst="wedgeEllipseCallout">
            <a:avLst>
              <a:gd name="adj1" fmla="val -84731"/>
              <a:gd name="adj2" fmla="val 37414"/>
            </a:avLst>
          </a:prstGeom>
          <a:solidFill>
            <a:srgbClr val="C000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p>
            <a:pPr>
              <a:defRPr sz="2200" b="0" i="1">
                <a:solidFill>
                  <a:srgbClr val="FFFFFF"/>
                </a:solidFill>
              </a:defRPr>
            </a:pPr>
            <a:r>
              <a:rPr lang="en-US" sz="1547" dirty="0"/>
              <a:t>Increase process</a:t>
            </a:r>
            <a:r>
              <a:rPr sz="1547" dirty="0"/>
              <a:t> automation!</a:t>
            </a:r>
          </a:p>
        </p:txBody>
      </p:sp>
      <p:sp>
        <p:nvSpPr>
          <p:cNvPr id="29" name="How do we increase Operational Consistency in order to harvest Business Insights?">
            <a:extLst>
              <a:ext uri="{FF2B5EF4-FFF2-40B4-BE49-F238E27FC236}">
                <a16:creationId xmlns:a16="http://schemas.microsoft.com/office/drawing/2014/main" id="{095BB28F-348E-4DA2-AAD9-40684A591034}"/>
              </a:ext>
            </a:extLst>
          </p:cNvPr>
          <p:cNvSpPr/>
          <p:nvPr/>
        </p:nvSpPr>
        <p:spPr>
          <a:xfrm>
            <a:off x="4527256" y="4715189"/>
            <a:ext cx="3150054" cy="892969"/>
          </a:xfrm>
          <a:prstGeom prst="roundRect">
            <a:avLst>
              <a:gd name="adj" fmla="val 15000"/>
            </a:avLst>
          </a:prstGeom>
          <a:solidFill>
            <a:schemeClr val="accent6">
              <a:lumMod val="5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lstStyle>
            <a:lvl1pPr>
              <a:defRPr sz="2200" b="0">
                <a:solidFill>
                  <a:srgbClr val="FFFFFF"/>
                </a:solidFill>
                <a:latin typeface="+mn-lt"/>
                <a:ea typeface="+mn-ea"/>
                <a:cs typeface="+mn-cs"/>
                <a:sym typeface="Helvetica Neue Medium"/>
              </a:defRPr>
            </a:lvl1pPr>
          </a:lstStyle>
          <a:p>
            <a:r>
              <a:rPr sz="1547" dirty="0"/>
              <a:t>How do we increase Operational Consistency in order to harvest Business Insights?</a:t>
            </a:r>
          </a:p>
        </p:txBody>
      </p:sp>
    </p:spTree>
    <p:extLst>
      <p:ext uri="{BB962C8B-B14F-4D97-AF65-F5344CB8AC3E}">
        <p14:creationId xmlns:p14="http://schemas.microsoft.com/office/powerpoint/2010/main" val="13895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8" fill="hold" grpId="0" nodeType="clickEffect">
                                  <p:stCondLst>
                                    <p:cond delay="0"/>
                                  </p:stCondLst>
                                  <p:iterate>
                                    <p:tmAbs val="0"/>
                                  </p:iterate>
                                  <p:childTnLst>
                                    <p:set>
                                      <p:cBhvr>
                                        <p:cTn id="6" fill="hold"/>
                                        <p:tgtEl>
                                          <p:spTgt spid="6"/>
                                        </p:tgtEl>
                                        <p:attrNameLst>
                                          <p:attrName>style.visibility</p:attrName>
                                        </p:attrNameLst>
                                      </p:cBhvr>
                                      <p:to>
                                        <p:strVal val="visible"/>
                                      </p:to>
                                    </p:set>
                                    <p:anim calcmode="lin" valueType="num">
                                      <p:cBhvr>
                                        <p:cTn id="7" dur="1500" fill="hold"/>
                                        <p:tgtEl>
                                          <p:spTgt spid="6"/>
                                        </p:tgtEl>
                                        <p:attrNameLst>
                                          <p:attrName>ppt_x</p:attrName>
                                        </p:attrNameLst>
                                      </p:cBhvr>
                                      <p:tavLst>
                                        <p:tav tm="0">
                                          <p:val>
                                            <p:strVal val="0-#ppt_w/2"/>
                                          </p:val>
                                        </p:tav>
                                        <p:tav tm="100000">
                                          <p:val>
                                            <p:strVal val="#ppt_x"/>
                                          </p:val>
                                        </p:tav>
                                      </p:tavLst>
                                    </p:anim>
                                    <p:anim calcmode="lin" valueType="num">
                                      <p:cBhvr>
                                        <p:cTn id="8" dur="1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fill="hold" grpId="0" nodeType="clickEffect">
                                  <p:stCondLst>
                                    <p:cond delay="0"/>
                                  </p:stCondLst>
                                  <p:iterate>
                                    <p:tmAbs val="0"/>
                                  </p:iterate>
                                  <p:childTnLst>
                                    <p:set>
                                      <p:cBhvr>
                                        <p:cTn id="12" fill="hold"/>
                                        <p:tgtEl>
                                          <p:spTgt spid="27"/>
                                        </p:tgtEl>
                                        <p:attrNameLst>
                                          <p:attrName>style.visibility</p:attrName>
                                        </p:attrNameLst>
                                      </p:cBhvr>
                                      <p:to>
                                        <p:strVal val="visible"/>
                                      </p:to>
                                    </p:set>
                                    <p:animEffect transition="in" filter="dissolve">
                                      <p:cBhvr>
                                        <p:cTn id="13" dur="8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dissolv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fill="hold" grpId="0" nodeType="clickEffect">
                                  <p:stCondLst>
                                    <p:cond delay="0"/>
                                  </p:stCondLst>
                                  <p:iterate>
                                    <p:tmAbs val="0"/>
                                  </p:iterate>
                                  <p:childTnLst>
                                    <p:set>
                                      <p:cBhvr>
                                        <p:cTn id="22" fill="hold"/>
                                        <p:tgtEl>
                                          <p:spTgt spid="29"/>
                                        </p:tgtEl>
                                        <p:attrNameLst>
                                          <p:attrName>style.visibility</p:attrName>
                                        </p:attrNameLst>
                                      </p:cBhvr>
                                      <p:to>
                                        <p:strVal val="visible"/>
                                      </p:to>
                                    </p:set>
                                    <p:animEffect transition="in" filter="dissolve">
                                      <p:cBhvr>
                                        <p:cTn id="23" dur="8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dissolv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dissolv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iterate>
                                    <p:tmAbs val="0"/>
                                  </p:iterate>
                                  <p:childTnLst>
                                    <p:set>
                                      <p:cBhvr>
                                        <p:cTn id="37" fill="hold"/>
                                        <p:tgtEl>
                                          <p:spTgt spid="14"/>
                                        </p:tgtEl>
                                        <p:attrNameLst>
                                          <p:attrName>style.visibility</p:attrName>
                                        </p:attrNameLst>
                                      </p:cBhvr>
                                      <p:to>
                                        <p:strVal val="visible"/>
                                      </p:to>
                                    </p:set>
                                    <p:animEffect transition="in" filter="wipe(left)">
                                      <p:cBhvr>
                                        <p:cTn id="38" dur="10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fill="hold" grpId="0" nodeType="clickEffect">
                                  <p:stCondLst>
                                    <p:cond delay="0"/>
                                  </p:stCondLst>
                                  <p:iterate>
                                    <p:tmAbs val="0"/>
                                  </p:iterate>
                                  <p:childTnLst>
                                    <p:set>
                                      <p:cBhvr>
                                        <p:cTn id="42" fill="hold"/>
                                        <p:tgtEl>
                                          <p:spTgt spid="28"/>
                                        </p:tgtEl>
                                        <p:attrNameLst>
                                          <p:attrName>style.visibility</p:attrName>
                                        </p:attrNameLst>
                                      </p:cBhvr>
                                      <p:to>
                                        <p:strVal val="visible"/>
                                      </p:to>
                                    </p:set>
                                    <p:animEffect transition="in" filter="dissolve">
                                      <p:cBhvr>
                                        <p:cTn id="43" dur="8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dvAuto="0"/>
      <p:bldP spid="14" grpId="0" animBg="1" advAuto="0"/>
      <p:bldP spid="17" grpId="0" animBg="1"/>
      <p:bldP spid="27" grpId="0" animBg="1" advAuto="0"/>
      <p:bldP spid="28" grpId="0" animBg="1" advAuto="0"/>
      <p:bldP spid="29" grpId="0" animBg="1"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DCIM Technology Adoption…"/>
          <p:cNvSpPr txBox="1">
            <a:spLocks noGrp="1"/>
          </p:cNvSpPr>
          <p:nvPr>
            <p:ph type="title"/>
          </p:nvPr>
        </p:nvSpPr>
        <p:spPr>
          <a:xfrm>
            <a:off x="323281" y="990560"/>
            <a:ext cx="8223855" cy="685916"/>
          </a:xfrm>
          <a:prstGeom prst="rect">
            <a:avLst/>
          </a:prstGeom>
        </p:spPr>
        <p:txBody>
          <a:bodyPr>
            <a:normAutofit fontScale="90000"/>
          </a:bodyPr>
          <a:lstStyle/>
          <a:p>
            <a:pPr defTabSz="184888">
              <a:defRPr sz="4800"/>
            </a:pPr>
            <a:r>
              <a:rPr lang="en-US" sz="2701" dirty="0"/>
              <a:t>iPaaS </a:t>
            </a:r>
            <a:r>
              <a:rPr sz="2701" dirty="0"/>
              <a:t>Technology Adoption</a:t>
            </a:r>
          </a:p>
          <a:p>
            <a:r>
              <a:rPr lang="en-US" sz="1688" dirty="0">
                <a:solidFill>
                  <a:schemeClr val="tx2">
                    <a:lumMod val="60000"/>
                    <a:lumOff val="40000"/>
                  </a:schemeClr>
                </a:solidFill>
              </a:rPr>
              <a:t>Capability Envisioning… </a:t>
            </a:r>
          </a:p>
        </p:txBody>
      </p:sp>
      <p:grpSp>
        <p:nvGrpSpPr>
          <p:cNvPr id="4" name="Group 3">
            <a:extLst>
              <a:ext uri="{FF2B5EF4-FFF2-40B4-BE49-F238E27FC236}">
                <a16:creationId xmlns:a16="http://schemas.microsoft.com/office/drawing/2014/main" id="{59BA30A1-AC77-6C49-92DF-041B1798782B}"/>
              </a:ext>
            </a:extLst>
          </p:cNvPr>
          <p:cNvGrpSpPr/>
          <p:nvPr/>
        </p:nvGrpSpPr>
        <p:grpSpPr>
          <a:xfrm>
            <a:off x="1652215" y="2337400"/>
            <a:ext cx="4967163" cy="3261093"/>
            <a:chOff x="2202379" y="1973912"/>
            <a:chExt cx="6621159" cy="4346992"/>
          </a:xfrm>
        </p:grpSpPr>
        <p:sp>
          <p:nvSpPr>
            <p:cNvPr id="123" name="Line"/>
            <p:cNvSpPr/>
            <p:nvPr/>
          </p:nvSpPr>
          <p:spPr>
            <a:xfrm>
              <a:off x="2906512" y="5723930"/>
              <a:ext cx="5917026" cy="1"/>
            </a:xfrm>
            <a:prstGeom prst="line">
              <a:avLst/>
            </a:prstGeom>
            <a:noFill/>
            <a:ln w="101600" cap="flat">
              <a:solidFill>
                <a:srgbClr val="000000"/>
              </a:solidFill>
              <a:prstDash val="solid"/>
              <a:miter lim="400000"/>
              <a:tailEnd type="triangle" w="med" len="med"/>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124" name="Line"/>
            <p:cNvSpPr/>
            <p:nvPr/>
          </p:nvSpPr>
          <p:spPr>
            <a:xfrm flipV="1">
              <a:off x="2942231" y="1973912"/>
              <a:ext cx="1" cy="3776808"/>
            </a:xfrm>
            <a:prstGeom prst="line">
              <a:avLst/>
            </a:prstGeom>
            <a:noFill/>
            <a:ln w="101600" cap="flat">
              <a:solidFill>
                <a:srgbClr val="000000"/>
              </a:solidFill>
              <a:prstDash val="solid"/>
              <a:miter lim="400000"/>
              <a:tailEnd type="triangle" w="med" len="med"/>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125" name="Operational Consistency"/>
            <p:cNvSpPr txBox="1"/>
            <p:nvPr/>
          </p:nvSpPr>
          <p:spPr>
            <a:xfrm>
              <a:off x="3792319" y="5859191"/>
              <a:ext cx="3599961" cy="46171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26796" tIns="26796" rIns="26796" bIns="26796" numCol="1" anchor="ctr">
              <a:spAutoFit/>
            </a:bodyPr>
            <a:lstStyle>
              <a:lvl1pPr>
                <a:defRPr sz="3600"/>
              </a:lvl1pPr>
            </a:lstStyle>
            <a:p>
              <a:r>
                <a:rPr sz="1899" dirty="0"/>
                <a:t>Operational C</a:t>
              </a:r>
              <a:r>
                <a:rPr lang="en-US" sz="1899" dirty="0"/>
                <a:t>onsistency</a:t>
              </a:r>
              <a:endParaRPr sz="1899" dirty="0"/>
            </a:p>
          </p:txBody>
        </p:sp>
        <p:sp>
          <p:nvSpPr>
            <p:cNvPr id="126" name="Data Consistency"/>
            <p:cNvSpPr txBox="1"/>
            <p:nvPr/>
          </p:nvSpPr>
          <p:spPr>
            <a:xfrm rot="16200000">
              <a:off x="659966" y="3631459"/>
              <a:ext cx="3546540" cy="46171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26796" tIns="26796" rIns="26796" bIns="26796" numCol="1" anchor="ctr">
              <a:spAutoFit/>
            </a:bodyPr>
            <a:lstStyle>
              <a:lvl1pPr>
                <a:defRPr sz="3600"/>
              </a:lvl1pPr>
            </a:lstStyle>
            <a:p>
              <a:r>
                <a:rPr lang="en-US" sz="1899" dirty="0"/>
                <a:t>Information Consistency</a:t>
              </a:r>
              <a:endParaRPr sz="1899" dirty="0"/>
            </a:p>
          </p:txBody>
        </p:sp>
      </p:grpSp>
      <p:grpSp>
        <p:nvGrpSpPr>
          <p:cNvPr id="2" name="Group 1">
            <a:extLst>
              <a:ext uri="{FF2B5EF4-FFF2-40B4-BE49-F238E27FC236}">
                <a16:creationId xmlns:a16="http://schemas.microsoft.com/office/drawing/2014/main" id="{46EE7EA7-F6D6-9747-8A0A-905337CA44CB}"/>
              </a:ext>
            </a:extLst>
          </p:cNvPr>
          <p:cNvGrpSpPr/>
          <p:nvPr/>
        </p:nvGrpSpPr>
        <p:grpSpPr>
          <a:xfrm>
            <a:off x="2684465" y="2791539"/>
            <a:ext cx="1026439" cy="534059"/>
            <a:chOff x="3578353" y="2579273"/>
            <a:chExt cx="1368229" cy="711893"/>
          </a:xfrm>
        </p:grpSpPr>
        <p:sp>
          <p:nvSpPr>
            <p:cNvPr id="128" name="Line"/>
            <p:cNvSpPr/>
            <p:nvPr/>
          </p:nvSpPr>
          <p:spPr>
            <a:xfrm>
              <a:off x="4174671" y="2811668"/>
              <a:ext cx="771911" cy="479498"/>
            </a:xfrm>
            <a:prstGeom prst="line">
              <a:avLst/>
            </a:prstGeom>
            <a:noFill/>
            <a:ln w="25400" cap="flat">
              <a:solidFill>
                <a:srgbClr val="000000"/>
              </a:solidFill>
              <a:prstDash val="solid"/>
              <a:miter lim="400000"/>
              <a:tailEnd type="triangle" w="med" len="med"/>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129" name="Metrics"/>
            <p:cNvSpPr txBox="1"/>
            <p:nvPr/>
          </p:nvSpPr>
          <p:spPr>
            <a:xfrm>
              <a:off x="3578353" y="2579273"/>
              <a:ext cx="593509" cy="26700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26796" tIns="26796" rIns="26796" bIns="26796" numCol="1" anchor="ctr">
              <a:spAutoFit/>
            </a:bodyPr>
            <a:lstStyle/>
            <a:p>
              <a:r>
                <a:rPr sz="950" dirty="0"/>
                <a:t>Metrics</a:t>
              </a:r>
            </a:p>
          </p:txBody>
        </p:sp>
      </p:grpSp>
      <p:grpSp>
        <p:nvGrpSpPr>
          <p:cNvPr id="133" name="Group"/>
          <p:cNvGrpSpPr/>
          <p:nvPr/>
        </p:nvGrpSpPr>
        <p:grpSpPr>
          <a:xfrm>
            <a:off x="2918876" y="2039166"/>
            <a:ext cx="3120253" cy="223360"/>
            <a:chOff x="0" y="26069"/>
            <a:chExt cx="5915382" cy="423446"/>
          </a:xfrm>
        </p:grpSpPr>
        <p:sp>
          <p:nvSpPr>
            <p:cNvPr id="131" name="Line"/>
            <p:cNvSpPr/>
            <p:nvPr/>
          </p:nvSpPr>
          <p:spPr>
            <a:xfrm>
              <a:off x="0" y="449514"/>
              <a:ext cx="5915382" cy="1"/>
            </a:xfrm>
            <a:prstGeom prst="line">
              <a:avLst/>
            </a:prstGeom>
            <a:noFill/>
            <a:ln w="25400" cap="flat">
              <a:solidFill>
                <a:srgbClr val="000000"/>
              </a:solidFill>
              <a:prstDash val="solid"/>
              <a:miter lim="400000"/>
              <a:tailEnd type="triangle" w="med" len="med"/>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132" name="Roles + Workflow + Automation"/>
            <p:cNvSpPr txBox="1"/>
            <p:nvPr/>
          </p:nvSpPr>
          <p:spPr>
            <a:xfrm>
              <a:off x="778045" y="26069"/>
              <a:ext cx="3703779" cy="40892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26796" tIns="26796" rIns="26796" bIns="26796" numCol="1" anchor="ctr">
              <a:spAutoFit/>
            </a:bodyPr>
            <a:lstStyle/>
            <a:p>
              <a:r>
                <a:rPr sz="950" b="1" dirty="0"/>
                <a:t>Roles</a:t>
              </a:r>
              <a:r>
                <a:rPr sz="950" dirty="0"/>
                <a:t> + </a:t>
              </a:r>
              <a:r>
                <a:rPr sz="950" b="1" dirty="0"/>
                <a:t>Workflow</a:t>
              </a:r>
              <a:r>
                <a:rPr sz="950" dirty="0"/>
                <a:t> + </a:t>
              </a:r>
              <a:r>
                <a:rPr sz="1050" b="1" i="1" dirty="0">
                  <a:solidFill>
                    <a:schemeClr val="accent5">
                      <a:lumOff val="-29866"/>
                    </a:schemeClr>
                  </a:solidFill>
                </a:rPr>
                <a:t>Automation</a:t>
              </a:r>
            </a:p>
          </p:txBody>
        </p:sp>
      </p:grpSp>
      <p:sp>
        <p:nvSpPr>
          <p:cNvPr id="144" name="Business Insights"/>
          <p:cNvSpPr/>
          <p:nvPr/>
        </p:nvSpPr>
        <p:spPr>
          <a:xfrm>
            <a:off x="190461" y="2262525"/>
            <a:ext cx="1251582" cy="800734"/>
          </a:xfrm>
          <a:prstGeom prst="wedgeEllipseCallout">
            <a:avLst>
              <a:gd name="adj1" fmla="val 66899"/>
              <a:gd name="adj2" fmla="val 74726"/>
            </a:avLst>
          </a:prstGeom>
          <a:solidFill>
            <a:srgbClr val="008E40"/>
          </a:solidFill>
          <a:ln w="12700">
            <a:miter lim="400000"/>
          </a:ln>
          <a:extLst>
            <a:ext uri="{C572A759-6A51-4108-AA02-DFA0A04FC94B}">
              <ma14:wrappingTextBoxFlag xmlns="" xmlns:ma14="http://schemas.microsoft.com/office/mac/drawingml/2011/main" val="1"/>
            </a:ext>
          </a:extLst>
        </p:spPr>
        <p:txBody>
          <a:bodyPr lIns="26796" tIns="26796" rIns="26796" bIns="26796" anchor="ctr"/>
          <a:lstStyle>
            <a:lvl1pPr>
              <a:defRPr sz="2200" b="0">
                <a:solidFill>
                  <a:srgbClr val="FFFFFF"/>
                </a:solidFill>
                <a:latin typeface="+mn-lt"/>
                <a:ea typeface="+mn-ea"/>
                <a:cs typeface="+mn-cs"/>
                <a:sym typeface="Helvetica Neue Medium"/>
              </a:defRPr>
            </a:lvl1pPr>
          </a:lstStyle>
          <a:p>
            <a:r>
              <a:rPr sz="1200" b="1" dirty="0"/>
              <a:t>Business </a:t>
            </a:r>
            <a:r>
              <a:rPr lang="en-US" sz="1200" b="1" dirty="0"/>
              <a:t>Insights &amp; Value</a:t>
            </a:r>
            <a:endParaRPr sz="1200" b="1" dirty="0"/>
          </a:p>
        </p:txBody>
      </p:sp>
      <p:sp>
        <p:nvSpPr>
          <p:cNvPr id="146" name="How do we increase Operational Consistency in order to harvest Business Insights?"/>
          <p:cNvSpPr/>
          <p:nvPr/>
        </p:nvSpPr>
        <p:spPr>
          <a:xfrm>
            <a:off x="5933820" y="4300161"/>
            <a:ext cx="2363156" cy="669901"/>
          </a:xfrm>
          <a:prstGeom prst="roundRect">
            <a:avLst>
              <a:gd name="adj" fmla="val 15000"/>
            </a:avLst>
          </a:prstGeom>
          <a:solidFill>
            <a:srgbClr val="008E40"/>
          </a:solidFill>
          <a:ln w="12700">
            <a:miter lim="400000"/>
          </a:ln>
          <a:extLst>
            <a:ext uri="{C572A759-6A51-4108-AA02-DFA0A04FC94B}">
              <ma14:wrappingTextBoxFlag xmlns="" xmlns:ma14="http://schemas.microsoft.com/office/mac/drawingml/2011/main" val="1"/>
            </a:ext>
          </a:extLst>
        </p:spPr>
        <p:txBody>
          <a:bodyPr lIns="26796" tIns="26796" rIns="26796" bIns="26796" anchor="ctr"/>
          <a:lstStyle>
            <a:lvl1pPr>
              <a:defRPr sz="2200" b="0">
                <a:solidFill>
                  <a:srgbClr val="FFFFFF"/>
                </a:solidFill>
                <a:latin typeface="+mn-lt"/>
                <a:ea typeface="+mn-ea"/>
                <a:cs typeface="+mn-cs"/>
                <a:sym typeface="Helvetica Neue Medium"/>
              </a:defRPr>
            </a:lvl1pPr>
          </a:lstStyle>
          <a:p>
            <a:r>
              <a:rPr sz="1161" dirty="0"/>
              <a:t>How do we increase Operational C</a:t>
            </a:r>
            <a:r>
              <a:rPr lang="en-US" sz="1161" dirty="0"/>
              <a:t>onsistency</a:t>
            </a:r>
            <a:r>
              <a:rPr sz="1161" dirty="0"/>
              <a:t> in order to harvest Business </a:t>
            </a:r>
            <a:r>
              <a:rPr lang="en-US" sz="1161" dirty="0"/>
              <a:t>Value</a:t>
            </a:r>
            <a:r>
              <a:rPr sz="1161" dirty="0"/>
              <a:t>?</a:t>
            </a:r>
          </a:p>
        </p:txBody>
      </p:sp>
      <p:sp>
        <p:nvSpPr>
          <p:cNvPr id="26" name="We actually need more automation!">
            <a:extLst>
              <a:ext uri="{FF2B5EF4-FFF2-40B4-BE49-F238E27FC236}">
                <a16:creationId xmlns:a16="http://schemas.microsoft.com/office/drawing/2014/main" id="{B639F138-AA77-4DED-97FC-63E1EC43E5F6}"/>
              </a:ext>
            </a:extLst>
          </p:cNvPr>
          <p:cNvSpPr/>
          <p:nvPr/>
        </p:nvSpPr>
        <p:spPr>
          <a:xfrm>
            <a:off x="6727673" y="1177151"/>
            <a:ext cx="1437187" cy="1197630"/>
          </a:xfrm>
          <a:prstGeom prst="wedgeEllipseCallout">
            <a:avLst>
              <a:gd name="adj1" fmla="val -84731"/>
              <a:gd name="adj2" fmla="val 37414"/>
            </a:avLst>
          </a:prstGeom>
          <a:solidFill>
            <a:schemeClr val="accent5">
              <a:lumMod val="5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96" tIns="26796" rIns="26796" bIns="26796" anchor="ctr"/>
          <a:lstStyle/>
          <a:p>
            <a:pPr>
              <a:defRPr sz="2200" b="0" i="1">
                <a:solidFill>
                  <a:srgbClr val="FFFFFF"/>
                </a:solidFill>
              </a:defRPr>
            </a:pPr>
            <a:r>
              <a:rPr lang="en-US" sz="1161" b="1" dirty="0"/>
              <a:t>Enable Self-Service by Role &amp; Increase A</a:t>
            </a:r>
            <a:r>
              <a:rPr sz="1161" b="1" dirty="0"/>
              <a:t>utomation!</a:t>
            </a:r>
          </a:p>
        </p:txBody>
      </p:sp>
      <p:sp>
        <p:nvSpPr>
          <p:cNvPr id="36" name="Connection Line">
            <a:extLst>
              <a:ext uri="{FF2B5EF4-FFF2-40B4-BE49-F238E27FC236}">
                <a16:creationId xmlns:a16="http://schemas.microsoft.com/office/drawing/2014/main" id="{ABACA2F7-0C93-7949-9DAC-390065A96FA7}"/>
              </a:ext>
            </a:extLst>
          </p:cNvPr>
          <p:cNvSpPr/>
          <p:nvPr/>
        </p:nvSpPr>
        <p:spPr>
          <a:xfrm>
            <a:off x="2424201" y="2617553"/>
            <a:ext cx="3749607" cy="232222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087" y="8417"/>
                  <a:pt x="11287" y="1217"/>
                  <a:pt x="21600" y="0"/>
                </a:cubicBezTo>
              </a:path>
            </a:pathLst>
          </a:custGeom>
          <a:noFill/>
          <a:ln w="127000" cap="flat">
            <a:solidFill>
              <a:schemeClr val="accent3">
                <a:hueOff val="914337"/>
                <a:satOff val="31515"/>
                <a:lumOff val="-30790"/>
              </a:schemeClr>
            </a:solidFill>
            <a:prstDash val="solid"/>
            <a:miter lim="400000"/>
          </a:ln>
          <a:effectLst/>
        </p:spPr>
        <p:txBody>
          <a:bodyPr/>
          <a:lstStyle/>
          <a:p>
            <a:endParaRPr sz="950" dirty="0"/>
          </a:p>
        </p:txBody>
      </p:sp>
      <p:grpSp>
        <p:nvGrpSpPr>
          <p:cNvPr id="3" name="Group 2">
            <a:extLst>
              <a:ext uri="{FF2B5EF4-FFF2-40B4-BE49-F238E27FC236}">
                <a16:creationId xmlns:a16="http://schemas.microsoft.com/office/drawing/2014/main" id="{EAEA5EE4-E22C-CE43-B5F8-3C7BAF0FDA28}"/>
              </a:ext>
            </a:extLst>
          </p:cNvPr>
          <p:cNvGrpSpPr/>
          <p:nvPr/>
        </p:nvGrpSpPr>
        <p:grpSpPr>
          <a:xfrm>
            <a:off x="2517143" y="2916360"/>
            <a:ext cx="4424892" cy="1912698"/>
            <a:chOff x="3355316" y="2745658"/>
            <a:chExt cx="5898320" cy="2549600"/>
          </a:xfrm>
        </p:grpSpPr>
        <p:sp>
          <p:nvSpPr>
            <p:cNvPr id="135" name="Circle"/>
            <p:cNvSpPr/>
            <p:nvPr/>
          </p:nvSpPr>
          <p:spPr>
            <a:xfrm>
              <a:off x="3355316" y="4883147"/>
              <a:ext cx="278607" cy="278607"/>
            </a:xfrm>
            <a:prstGeom prst="ellipse">
              <a:avLst/>
            </a:prstGeom>
            <a:solidFill>
              <a:schemeClr val="accent1"/>
            </a:solidFill>
            <a:ln w="12700" cap="flat">
              <a:noFill/>
              <a:miter lim="400000"/>
            </a:ln>
            <a:effectLst/>
          </p:spPr>
          <p:txBody>
            <a:bodyPr wrap="square" lIns="26796" tIns="26796" rIns="26796" bIns="26796" numCol="1" anchor="ctr">
              <a:noAutofit/>
            </a:bodyPr>
            <a:lstStyle/>
            <a:p>
              <a:pPr>
                <a:defRPr sz="2200" b="0">
                  <a:solidFill>
                    <a:srgbClr val="27FF3B"/>
                  </a:solidFill>
                  <a:latin typeface="+mn-lt"/>
                  <a:ea typeface="+mn-ea"/>
                  <a:cs typeface="+mn-cs"/>
                  <a:sym typeface="Helvetica Neue Medium"/>
                </a:defRPr>
              </a:pPr>
              <a:endParaRPr sz="1161"/>
            </a:p>
          </p:txBody>
        </p:sp>
        <p:sp>
          <p:nvSpPr>
            <p:cNvPr id="136" name="Circle"/>
            <p:cNvSpPr/>
            <p:nvPr/>
          </p:nvSpPr>
          <p:spPr>
            <a:xfrm>
              <a:off x="3653016" y="4452828"/>
              <a:ext cx="278607" cy="278607"/>
            </a:xfrm>
            <a:prstGeom prst="ellipse">
              <a:avLst/>
            </a:prstGeom>
            <a:solidFill>
              <a:schemeClr val="accent1"/>
            </a:solidFill>
            <a:ln w="12700" cap="flat">
              <a:noFill/>
              <a:miter lim="400000"/>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137" name="Circle"/>
            <p:cNvSpPr/>
            <p:nvPr/>
          </p:nvSpPr>
          <p:spPr>
            <a:xfrm>
              <a:off x="3948988" y="4046333"/>
              <a:ext cx="278607" cy="278607"/>
            </a:xfrm>
            <a:prstGeom prst="ellipse">
              <a:avLst/>
            </a:prstGeom>
            <a:solidFill>
              <a:schemeClr val="accent1"/>
            </a:solidFill>
            <a:ln w="12700" cap="flat">
              <a:noFill/>
              <a:miter lim="400000"/>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138" name="Asset Management"/>
            <p:cNvSpPr txBox="1"/>
            <p:nvPr/>
          </p:nvSpPr>
          <p:spPr>
            <a:xfrm>
              <a:off x="3585553" y="5028249"/>
              <a:ext cx="4050821" cy="26700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26796" tIns="26796" rIns="26796" bIns="26796" numCol="1" anchor="ctr">
              <a:spAutoFit/>
            </a:bodyPr>
            <a:lstStyle>
              <a:lvl1pPr>
                <a:defRPr sz="1800"/>
              </a:lvl1pPr>
            </a:lstStyle>
            <a:p>
              <a:r>
                <a:rPr lang="en-US" sz="950" dirty="0"/>
                <a:t>Business-Domain Data &amp; Workflow Modeling Capability</a:t>
              </a:r>
            </a:p>
          </p:txBody>
        </p:sp>
        <p:sp>
          <p:nvSpPr>
            <p:cNvPr id="139" name="Power Management"/>
            <p:cNvSpPr txBox="1"/>
            <p:nvPr/>
          </p:nvSpPr>
          <p:spPr>
            <a:xfrm>
              <a:off x="3888588" y="4646295"/>
              <a:ext cx="2356354" cy="26700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26796" tIns="26796" rIns="26796" bIns="26796" numCol="1" anchor="ctr">
              <a:spAutoFit/>
            </a:bodyPr>
            <a:lstStyle>
              <a:lvl1pPr>
                <a:defRPr sz="1800"/>
              </a:lvl1pPr>
            </a:lstStyle>
            <a:p>
              <a:r>
                <a:rPr lang="en-US" sz="950" dirty="0"/>
                <a:t>Complex Integrations Capability</a:t>
              </a:r>
              <a:endParaRPr sz="950" dirty="0"/>
            </a:p>
          </p:txBody>
        </p:sp>
        <p:sp>
          <p:nvSpPr>
            <p:cNvPr id="140" name="Change Management"/>
            <p:cNvSpPr txBox="1"/>
            <p:nvPr/>
          </p:nvSpPr>
          <p:spPr>
            <a:xfrm>
              <a:off x="4208470" y="4219026"/>
              <a:ext cx="2236695" cy="26700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26796" tIns="26796" rIns="26796" bIns="26796" numCol="1" anchor="ctr">
              <a:spAutoFit/>
            </a:bodyPr>
            <a:lstStyle>
              <a:lvl1pPr>
                <a:defRPr sz="1800"/>
              </a:lvl1pPr>
            </a:lstStyle>
            <a:p>
              <a:r>
                <a:rPr lang="en-US" sz="950" dirty="0"/>
                <a:t>iPaaS API Services Capability</a:t>
              </a:r>
              <a:endParaRPr sz="950" dirty="0"/>
            </a:p>
          </p:txBody>
        </p:sp>
        <p:sp>
          <p:nvSpPr>
            <p:cNvPr id="141" name="Circle"/>
            <p:cNvSpPr/>
            <p:nvPr/>
          </p:nvSpPr>
          <p:spPr>
            <a:xfrm>
              <a:off x="4298579" y="3723011"/>
              <a:ext cx="278607" cy="278607"/>
            </a:xfrm>
            <a:prstGeom prst="ellipse">
              <a:avLst/>
            </a:prstGeom>
            <a:solidFill>
              <a:schemeClr val="accent1"/>
            </a:solidFill>
            <a:ln w="12700" cap="flat">
              <a:noFill/>
              <a:miter lim="400000"/>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142" name="Capacity Management"/>
            <p:cNvSpPr txBox="1"/>
            <p:nvPr/>
          </p:nvSpPr>
          <p:spPr>
            <a:xfrm>
              <a:off x="4558013" y="3859321"/>
              <a:ext cx="2253789" cy="26700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26796" tIns="26796" rIns="26796" bIns="26796" numCol="1" anchor="ctr">
              <a:spAutoFit/>
            </a:bodyPr>
            <a:lstStyle>
              <a:lvl1pPr>
                <a:defRPr sz="1800"/>
              </a:lvl1pPr>
            </a:lstStyle>
            <a:p>
              <a:r>
                <a:rPr lang="en-US" sz="950" dirty="0"/>
                <a:t>iPaaS API Catalogs Capability</a:t>
              </a:r>
              <a:endParaRPr sz="950" dirty="0"/>
            </a:p>
          </p:txBody>
        </p:sp>
        <p:sp>
          <p:nvSpPr>
            <p:cNvPr id="27" name="Circle">
              <a:extLst>
                <a:ext uri="{FF2B5EF4-FFF2-40B4-BE49-F238E27FC236}">
                  <a16:creationId xmlns:a16="http://schemas.microsoft.com/office/drawing/2014/main" id="{DA3EF84B-AE2A-BF43-B8B2-B01D6E9BFD9F}"/>
                </a:ext>
              </a:extLst>
            </p:cNvPr>
            <p:cNvSpPr/>
            <p:nvPr/>
          </p:nvSpPr>
          <p:spPr>
            <a:xfrm>
              <a:off x="4667976" y="3383938"/>
              <a:ext cx="278607" cy="278607"/>
            </a:xfrm>
            <a:prstGeom prst="ellipse">
              <a:avLst/>
            </a:prstGeom>
            <a:solidFill>
              <a:schemeClr val="accent1"/>
            </a:solidFill>
            <a:ln w="12700" cap="flat">
              <a:noFill/>
              <a:miter lim="400000"/>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28" name="Capacity Management">
              <a:extLst>
                <a:ext uri="{FF2B5EF4-FFF2-40B4-BE49-F238E27FC236}">
                  <a16:creationId xmlns:a16="http://schemas.microsoft.com/office/drawing/2014/main" id="{00825A53-5D91-4E49-B7ED-75FBA676FD1B}"/>
                </a:ext>
              </a:extLst>
            </p:cNvPr>
            <p:cNvSpPr txBox="1"/>
            <p:nvPr/>
          </p:nvSpPr>
          <p:spPr>
            <a:xfrm>
              <a:off x="4946583" y="3546002"/>
              <a:ext cx="2516612" cy="26700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26796" tIns="26796" rIns="26796" bIns="26796" numCol="1" anchor="ctr">
              <a:spAutoFit/>
            </a:bodyPr>
            <a:lstStyle>
              <a:lvl1pPr>
                <a:defRPr sz="1800"/>
              </a:lvl1pPr>
            </a:lstStyle>
            <a:p>
              <a:r>
                <a:rPr lang="en-US" sz="950" dirty="0"/>
                <a:t>Integration Governance Capability</a:t>
              </a:r>
              <a:endParaRPr sz="950" dirty="0"/>
            </a:p>
          </p:txBody>
        </p:sp>
        <p:sp>
          <p:nvSpPr>
            <p:cNvPr id="29" name="Circle">
              <a:extLst>
                <a:ext uri="{FF2B5EF4-FFF2-40B4-BE49-F238E27FC236}">
                  <a16:creationId xmlns:a16="http://schemas.microsoft.com/office/drawing/2014/main" id="{6687DD6D-6E3F-9543-82B7-146C66CF8AE9}"/>
                </a:ext>
              </a:extLst>
            </p:cNvPr>
            <p:cNvSpPr/>
            <p:nvPr/>
          </p:nvSpPr>
          <p:spPr>
            <a:xfrm>
              <a:off x="5148102" y="3067656"/>
              <a:ext cx="278607" cy="278607"/>
            </a:xfrm>
            <a:prstGeom prst="ellipse">
              <a:avLst/>
            </a:prstGeom>
            <a:solidFill>
              <a:schemeClr val="accent1"/>
            </a:solidFill>
            <a:ln w="12700" cap="flat">
              <a:noFill/>
              <a:miter lim="400000"/>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30" name="Capacity Management">
              <a:extLst>
                <a:ext uri="{FF2B5EF4-FFF2-40B4-BE49-F238E27FC236}">
                  <a16:creationId xmlns:a16="http://schemas.microsoft.com/office/drawing/2014/main" id="{26B0F458-2CE3-EA4A-8C3A-59CFD8F3A58E}"/>
                </a:ext>
              </a:extLst>
            </p:cNvPr>
            <p:cNvSpPr txBox="1"/>
            <p:nvPr/>
          </p:nvSpPr>
          <p:spPr>
            <a:xfrm>
              <a:off x="5407536" y="3203967"/>
              <a:ext cx="3245255" cy="26700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26796" tIns="26796" rIns="26796" bIns="26796" numCol="1" anchor="ctr">
              <a:spAutoFit/>
            </a:bodyPr>
            <a:lstStyle>
              <a:lvl1pPr>
                <a:defRPr sz="1800"/>
              </a:lvl1pPr>
            </a:lstStyle>
            <a:p>
              <a:r>
                <a:rPr lang="en-US" sz="950" dirty="0"/>
                <a:t>Integration Persona Role-Group Capabilities</a:t>
              </a:r>
              <a:endParaRPr sz="950" dirty="0"/>
            </a:p>
          </p:txBody>
        </p:sp>
        <p:sp>
          <p:nvSpPr>
            <p:cNvPr id="31" name="Circle">
              <a:extLst>
                <a:ext uri="{FF2B5EF4-FFF2-40B4-BE49-F238E27FC236}">
                  <a16:creationId xmlns:a16="http://schemas.microsoft.com/office/drawing/2014/main" id="{BD7EF9E6-5E79-6F47-AD48-37F70EC13518}"/>
                </a:ext>
              </a:extLst>
            </p:cNvPr>
            <p:cNvSpPr/>
            <p:nvPr/>
          </p:nvSpPr>
          <p:spPr>
            <a:xfrm>
              <a:off x="5793507" y="2745658"/>
              <a:ext cx="278607" cy="278607"/>
            </a:xfrm>
            <a:prstGeom prst="ellipse">
              <a:avLst/>
            </a:prstGeom>
            <a:solidFill>
              <a:schemeClr val="accent1"/>
            </a:solidFill>
            <a:ln w="12700" cap="flat">
              <a:noFill/>
              <a:miter lim="400000"/>
            </a:ln>
            <a:effectLst/>
          </p:spPr>
          <p:txBody>
            <a:bodyPr wrap="square" lIns="26796" tIns="26796" rIns="26796" bIns="26796" numCol="1" anchor="ctr">
              <a:noAutofit/>
            </a:bodyPr>
            <a:lstStyle/>
            <a:p>
              <a:pPr>
                <a:defRPr sz="2200" b="0">
                  <a:solidFill>
                    <a:srgbClr val="FFFFFF"/>
                  </a:solidFill>
                  <a:latin typeface="+mn-lt"/>
                  <a:ea typeface="+mn-ea"/>
                  <a:cs typeface="+mn-cs"/>
                  <a:sym typeface="Helvetica Neue Medium"/>
                </a:defRPr>
              </a:pPr>
              <a:endParaRPr sz="1161"/>
            </a:p>
          </p:txBody>
        </p:sp>
        <p:sp>
          <p:nvSpPr>
            <p:cNvPr id="32" name="Capacity Management">
              <a:extLst>
                <a:ext uri="{FF2B5EF4-FFF2-40B4-BE49-F238E27FC236}">
                  <a16:creationId xmlns:a16="http://schemas.microsoft.com/office/drawing/2014/main" id="{ABE1EB98-932F-0441-ADC9-543F43CC772C}"/>
                </a:ext>
              </a:extLst>
            </p:cNvPr>
            <p:cNvSpPr txBox="1"/>
            <p:nvPr/>
          </p:nvSpPr>
          <p:spPr>
            <a:xfrm>
              <a:off x="6087442" y="2906361"/>
              <a:ext cx="3166194" cy="26700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26796" tIns="26796" rIns="26796" bIns="26796" numCol="1" anchor="ctr">
              <a:spAutoFit/>
            </a:bodyPr>
            <a:lstStyle>
              <a:lvl1pPr>
                <a:defRPr sz="1800"/>
              </a:lvl1pPr>
            </a:lstStyle>
            <a:p>
              <a:r>
                <a:rPr lang="en-US" sz="950" dirty="0"/>
                <a:t>Integration Workflow Automation Capability</a:t>
              </a:r>
              <a:endParaRPr sz="950" dirty="0"/>
            </a:p>
          </p:txBody>
        </p:sp>
      </p:grpSp>
    </p:spTree>
    <p:extLst>
      <p:ext uri="{BB962C8B-B14F-4D97-AF65-F5344CB8AC3E}">
        <p14:creationId xmlns:p14="http://schemas.microsoft.com/office/powerpoint/2010/main" val="1842438365"/>
      </p:ext>
    </p:extLst>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4"/>
                                        </p:tgtEl>
                                        <p:attrNameLst>
                                          <p:attrName>style.visibility</p:attrName>
                                        </p:attrNameLst>
                                      </p:cBhvr>
                                      <p:to>
                                        <p:strVal val="visible"/>
                                      </p:to>
                                    </p:set>
                                    <p:animEffect transition="in" filter="fade">
                                      <p:cBhvr>
                                        <p:cTn id="14" dur="1000"/>
                                        <p:tgtEl>
                                          <p:spTgt spid="144"/>
                                        </p:tgtEl>
                                      </p:cBhvr>
                                    </p:animEffect>
                                    <p:anim calcmode="lin" valueType="num">
                                      <p:cBhvr>
                                        <p:cTn id="15" dur="1000" fill="hold"/>
                                        <p:tgtEl>
                                          <p:spTgt spid="144"/>
                                        </p:tgtEl>
                                        <p:attrNameLst>
                                          <p:attrName>ppt_x</p:attrName>
                                        </p:attrNameLst>
                                      </p:cBhvr>
                                      <p:tavLst>
                                        <p:tav tm="0">
                                          <p:val>
                                            <p:strVal val="#ppt_x"/>
                                          </p:val>
                                        </p:tav>
                                        <p:tav tm="100000">
                                          <p:val>
                                            <p:strVal val="#ppt_x"/>
                                          </p:val>
                                        </p:tav>
                                      </p:tavLst>
                                    </p:anim>
                                    <p:anim calcmode="lin" valueType="num">
                                      <p:cBhvr>
                                        <p:cTn id="16" dur="1000" fill="hold"/>
                                        <p:tgtEl>
                                          <p:spTgt spid="14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1000"/>
                                        <p:tgtEl>
                                          <p:spTgt spid="36"/>
                                        </p:tgtEl>
                                      </p:cBhvr>
                                    </p:animEffect>
                                    <p:anim calcmode="lin" valueType="num">
                                      <p:cBhvr>
                                        <p:cTn id="22" dur="1000" fill="hold"/>
                                        <p:tgtEl>
                                          <p:spTgt spid="36"/>
                                        </p:tgtEl>
                                        <p:attrNameLst>
                                          <p:attrName>ppt_x</p:attrName>
                                        </p:attrNameLst>
                                      </p:cBhvr>
                                      <p:tavLst>
                                        <p:tav tm="0">
                                          <p:val>
                                            <p:strVal val="#ppt_x"/>
                                          </p:val>
                                        </p:tav>
                                        <p:tav tm="100000">
                                          <p:val>
                                            <p:strVal val="#ppt_x"/>
                                          </p:val>
                                        </p:tav>
                                      </p:tavLst>
                                    </p:anim>
                                    <p:anim calcmode="lin" valueType="num">
                                      <p:cBhvr>
                                        <p:cTn id="23"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46"/>
                                        </p:tgtEl>
                                        <p:attrNameLst>
                                          <p:attrName>style.visibility</p:attrName>
                                        </p:attrNameLst>
                                      </p:cBhvr>
                                      <p:to>
                                        <p:strVal val="visible"/>
                                      </p:to>
                                    </p:set>
                                    <p:animEffect transition="in" filter="fade">
                                      <p:cBhvr>
                                        <p:cTn id="35" dur="1000"/>
                                        <p:tgtEl>
                                          <p:spTgt spid="146"/>
                                        </p:tgtEl>
                                      </p:cBhvr>
                                    </p:animEffect>
                                    <p:anim calcmode="lin" valueType="num">
                                      <p:cBhvr>
                                        <p:cTn id="36" dur="1000" fill="hold"/>
                                        <p:tgtEl>
                                          <p:spTgt spid="146"/>
                                        </p:tgtEl>
                                        <p:attrNameLst>
                                          <p:attrName>ppt_x</p:attrName>
                                        </p:attrNameLst>
                                      </p:cBhvr>
                                      <p:tavLst>
                                        <p:tav tm="0">
                                          <p:val>
                                            <p:strVal val="#ppt_x"/>
                                          </p:val>
                                        </p:tav>
                                        <p:tav tm="100000">
                                          <p:val>
                                            <p:strVal val="#ppt_x"/>
                                          </p:val>
                                        </p:tav>
                                      </p:tavLst>
                                    </p:anim>
                                    <p:anim calcmode="lin" valueType="num">
                                      <p:cBhvr>
                                        <p:cTn id="37" dur="1000" fill="hold"/>
                                        <p:tgtEl>
                                          <p:spTgt spid="14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33"/>
                                        </p:tgtEl>
                                        <p:attrNameLst>
                                          <p:attrName>style.visibility</p:attrName>
                                        </p:attrNameLst>
                                      </p:cBhvr>
                                      <p:to>
                                        <p:strVal val="visible"/>
                                      </p:to>
                                    </p:set>
                                    <p:animEffect transition="in" filter="fade">
                                      <p:cBhvr>
                                        <p:cTn id="42" dur="1000"/>
                                        <p:tgtEl>
                                          <p:spTgt spid="133"/>
                                        </p:tgtEl>
                                      </p:cBhvr>
                                    </p:animEffect>
                                    <p:anim calcmode="lin" valueType="num">
                                      <p:cBhvr>
                                        <p:cTn id="43" dur="1000" fill="hold"/>
                                        <p:tgtEl>
                                          <p:spTgt spid="133"/>
                                        </p:tgtEl>
                                        <p:attrNameLst>
                                          <p:attrName>ppt_x</p:attrName>
                                        </p:attrNameLst>
                                      </p:cBhvr>
                                      <p:tavLst>
                                        <p:tav tm="0">
                                          <p:val>
                                            <p:strVal val="#ppt_x"/>
                                          </p:val>
                                        </p:tav>
                                        <p:tav tm="100000">
                                          <p:val>
                                            <p:strVal val="#ppt_x"/>
                                          </p:val>
                                        </p:tav>
                                      </p:tavLst>
                                    </p:anim>
                                    <p:anim calcmode="lin" valueType="num">
                                      <p:cBhvr>
                                        <p:cTn id="44" dur="1000" fill="hold"/>
                                        <p:tgtEl>
                                          <p:spTgt spid="13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fade">
                                      <p:cBhvr>
                                        <p:cTn id="49" dur="1000"/>
                                        <p:tgtEl>
                                          <p:spTgt spid="3"/>
                                        </p:tgtEl>
                                      </p:cBhvr>
                                    </p:animEffect>
                                    <p:anim calcmode="lin" valueType="num">
                                      <p:cBhvr>
                                        <p:cTn id="50" dur="1000" fill="hold"/>
                                        <p:tgtEl>
                                          <p:spTgt spid="3"/>
                                        </p:tgtEl>
                                        <p:attrNameLst>
                                          <p:attrName>ppt_x</p:attrName>
                                        </p:attrNameLst>
                                      </p:cBhvr>
                                      <p:tavLst>
                                        <p:tav tm="0">
                                          <p:val>
                                            <p:strVal val="#ppt_x"/>
                                          </p:val>
                                        </p:tav>
                                        <p:tav tm="100000">
                                          <p:val>
                                            <p:strVal val="#ppt_x"/>
                                          </p:val>
                                        </p:tav>
                                      </p:tavLst>
                                    </p:anim>
                                    <p:anim calcmode="lin" valueType="num">
                                      <p:cBhvr>
                                        <p:cTn id="5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1000"/>
                                        <p:tgtEl>
                                          <p:spTgt spid="26"/>
                                        </p:tgtEl>
                                      </p:cBhvr>
                                    </p:animEffect>
                                    <p:anim calcmode="lin" valueType="num">
                                      <p:cBhvr>
                                        <p:cTn id="57" dur="1000" fill="hold"/>
                                        <p:tgtEl>
                                          <p:spTgt spid="26"/>
                                        </p:tgtEl>
                                        <p:attrNameLst>
                                          <p:attrName>ppt_x</p:attrName>
                                        </p:attrNameLst>
                                      </p:cBhvr>
                                      <p:tavLst>
                                        <p:tav tm="0">
                                          <p:val>
                                            <p:strVal val="#ppt_x"/>
                                          </p:val>
                                        </p:tav>
                                        <p:tav tm="100000">
                                          <p:val>
                                            <p:strVal val="#ppt_x"/>
                                          </p:val>
                                        </p:tav>
                                      </p:tavLst>
                                    </p:anim>
                                    <p:anim calcmode="lin" valueType="num">
                                      <p:cBhvr>
                                        <p:cTn id="5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 grpId="0" animBg="1"/>
      <p:bldP spid="146" grpId="0" animBg="1"/>
      <p:bldP spid="26" grpId="0" animBg="1"/>
      <p:bldP spid="3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FBEC7FF-50DF-48FC-9AC2-FD33BD8873CB}"/>
              </a:ext>
            </a:extLst>
          </p:cNvPr>
          <p:cNvSpPr>
            <a:spLocks noGrp="1"/>
          </p:cNvSpPr>
          <p:nvPr>
            <p:ph type="title"/>
          </p:nvPr>
        </p:nvSpPr>
        <p:spPr>
          <a:xfrm>
            <a:off x="310678" y="920227"/>
            <a:ext cx="8833322" cy="648220"/>
          </a:xfrm>
        </p:spPr>
        <p:txBody>
          <a:bodyPr/>
          <a:lstStyle/>
          <a:p>
            <a:r>
              <a:rPr lang="en-US" sz="2101" dirty="0"/>
              <a:t>iPaaS Capability Goals</a:t>
            </a:r>
            <a:br>
              <a:rPr lang="en-US" sz="2101" dirty="0"/>
            </a:br>
            <a:r>
              <a:rPr lang="en-US" sz="1500" dirty="0">
                <a:solidFill>
                  <a:schemeClr val="tx2">
                    <a:lumMod val="60000"/>
                    <a:lumOff val="40000"/>
                  </a:schemeClr>
                </a:solidFill>
              </a:rPr>
              <a:t>How does this help the business?</a:t>
            </a:r>
            <a:endParaRPr lang="en-US" sz="1500" dirty="0">
              <a:solidFill>
                <a:srgbClr val="FF0000"/>
              </a:solidFill>
            </a:endParaRPr>
          </a:p>
        </p:txBody>
      </p:sp>
      <p:sp>
        <p:nvSpPr>
          <p:cNvPr id="6" name="Title 9">
            <a:extLst>
              <a:ext uri="{FF2B5EF4-FFF2-40B4-BE49-F238E27FC236}">
                <a16:creationId xmlns:a16="http://schemas.microsoft.com/office/drawing/2014/main" id="{D0CEEB23-BF80-4743-ADFA-1590F69FD436}"/>
              </a:ext>
            </a:extLst>
          </p:cNvPr>
          <p:cNvSpPr txBox="1">
            <a:spLocks/>
          </p:cNvSpPr>
          <p:nvPr/>
        </p:nvSpPr>
        <p:spPr bwMode="gray">
          <a:xfrm>
            <a:off x="310679" y="1425233"/>
            <a:ext cx="8636971" cy="286429"/>
          </a:xfrm>
          <a:prstGeom prst="rect">
            <a:avLst/>
          </a:prstGeom>
        </p:spPr>
        <p:txBody>
          <a:bodyPr vert="horz" lIns="0" tIns="0" rIns="0" bIns="0" rtlCol="0" anchor="t" anchorCtr="0">
            <a:noAutofit/>
          </a:bodyPr>
          <a:lstStyle>
            <a:lvl1pPr algn="l" defTabSz="914126" rtl="0" eaLnBrk="1" latinLnBrk="0" hangingPunct="1">
              <a:lnSpc>
                <a:spcPct val="90000"/>
              </a:lnSpc>
              <a:spcBef>
                <a:spcPct val="0"/>
              </a:spcBef>
              <a:buNone/>
              <a:defRPr sz="2400" b="1" kern="1200" spc="-30" baseline="0">
                <a:solidFill>
                  <a:schemeClr val="tx1"/>
                </a:solidFill>
                <a:latin typeface="+mj-lt"/>
                <a:ea typeface="+mj-ea"/>
                <a:cs typeface="+mj-cs"/>
              </a:defRPr>
            </a:lvl1pPr>
          </a:lstStyle>
          <a:p>
            <a:endParaRPr lang="en-US" sz="1500" b="0">
              <a:solidFill>
                <a:srgbClr val="FF0000"/>
              </a:solidFill>
            </a:endParaRPr>
          </a:p>
        </p:txBody>
      </p:sp>
      <p:sp>
        <p:nvSpPr>
          <p:cNvPr id="7" name="Content Placeholder 2">
            <a:extLst>
              <a:ext uri="{FF2B5EF4-FFF2-40B4-BE49-F238E27FC236}">
                <a16:creationId xmlns:a16="http://schemas.microsoft.com/office/drawing/2014/main" id="{41A39738-7B93-4E2E-94BD-6190C100F107}"/>
              </a:ext>
            </a:extLst>
          </p:cNvPr>
          <p:cNvSpPr txBox="1">
            <a:spLocks/>
          </p:cNvSpPr>
          <p:nvPr/>
        </p:nvSpPr>
        <p:spPr>
          <a:xfrm>
            <a:off x="307916" y="1645117"/>
            <a:ext cx="8525407" cy="4078203"/>
          </a:xfrm>
          <a:prstGeom prst="rect">
            <a:avLst/>
          </a:prstGeom>
        </p:spPr>
        <p:txBody>
          <a:bodyPr lIns="68598" tIns="34299" rIns="68598" bIns="34299" anchor="t"/>
          <a:lstStyle>
            <a:lvl1pPr marL="228531" indent="-228531" algn="l" defTabSz="914126" rtl="0" eaLnBrk="1" latinLnBrk="0" hangingPunct="1">
              <a:lnSpc>
                <a:spcPct val="100000"/>
              </a:lnSpc>
              <a:spcBef>
                <a:spcPts val="1200"/>
              </a:spcBef>
              <a:buFont typeface="Arial" panose="020B0604020202020204" pitchFamily="34" charset="0"/>
              <a:buChar char="•"/>
              <a:defRPr sz="2400" kern="1200">
                <a:solidFill>
                  <a:srgbClr val="6D6E71"/>
                </a:solidFill>
                <a:latin typeface="+mn-lt"/>
                <a:ea typeface="+mn-ea"/>
                <a:cs typeface="+mn-cs"/>
              </a:defRPr>
            </a:lvl1pPr>
            <a:lvl2pPr marL="447675" indent="-187325" algn="l" defTabSz="914126" rtl="0" eaLnBrk="1" latinLnBrk="0" hangingPunct="1">
              <a:lnSpc>
                <a:spcPct val="100000"/>
              </a:lnSpc>
              <a:spcBef>
                <a:spcPts val="800"/>
              </a:spcBef>
              <a:buFont typeface="Arial" panose="020B0604020202020204" pitchFamily="34" charset="0"/>
              <a:buChar char="•"/>
              <a:defRPr sz="2000" kern="1200">
                <a:solidFill>
                  <a:srgbClr val="6D6E71"/>
                </a:solidFill>
                <a:latin typeface="+mn-lt"/>
                <a:ea typeface="+mn-ea"/>
                <a:cs typeface="+mn-cs"/>
              </a:defRPr>
            </a:lvl2pPr>
            <a:lvl3pPr marL="660400" indent="-160338" algn="l" defTabSz="914126" rtl="0" eaLnBrk="1" latinLnBrk="0" hangingPunct="1">
              <a:lnSpc>
                <a:spcPct val="100000"/>
              </a:lnSpc>
              <a:spcBef>
                <a:spcPts val="600"/>
              </a:spcBef>
              <a:buFont typeface="Arial" panose="020B0604020202020204" pitchFamily="34" charset="0"/>
              <a:buChar char="•"/>
              <a:defRPr sz="1800" kern="1200">
                <a:solidFill>
                  <a:srgbClr val="6D6E71"/>
                </a:solidFill>
                <a:latin typeface="+mn-lt"/>
                <a:ea typeface="+mn-ea"/>
                <a:cs typeface="+mn-cs"/>
              </a:defRPr>
            </a:lvl3pPr>
            <a:lvl4pPr marL="842963" indent="-166688" algn="l" defTabSz="914126" rtl="0" eaLnBrk="1" latinLnBrk="0" hangingPunct="1">
              <a:lnSpc>
                <a:spcPct val="100000"/>
              </a:lnSpc>
              <a:spcBef>
                <a:spcPts val="300"/>
              </a:spcBef>
              <a:buFont typeface="Arial" panose="020B0604020202020204" pitchFamily="34" charset="0"/>
              <a:buChar char="•"/>
              <a:defRPr sz="1600" kern="1200">
                <a:solidFill>
                  <a:srgbClr val="6D6E71"/>
                </a:solidFill>
                <a:latin typeface="+mn-lt"/>
                <a:ea typeface="+mn-ea"/>
                <a:cs typeface="+mn-cs"/>
              </a:defRPr>
            </a:lvl4pPr>
            <a:lvl5pPr marL="990600" indent="-131763" algn="l" defTabSz="914126" rtl="0" eaLnBrk="1" latinLnBrk="0" hangingPunct="1">
              <a:lnSpc>
                <a:spcPct val="100000"/>
              </a:lnSpc>
              <a:spcBef>
                <a:spcPts val="300"/>
              </a:spcBef>
              <a:buFont typeface="Arial" panose="020B0604020202020204" pitchFamily="34" charset="0"/>
              <a:buChar char="•"/>
              <a:defRPr sz="1600" kern="1200">
                <a:solidFill>
                  <a:srgbClr val="6D6E7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Accelerate Integration Initiatives – more quickly enable digital transformation.</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Spend more time on higher value integration activities – re-use of prebuilt connectors.</a:t>
            </a:r>
            <a:endParaRPr lang="en-US" sz="1200" dirty="0">
              <a:solidFill>
                <a:schemeClr val="tx1"/>
              </a:solidFill>
              <a:cs typeface="Arial"/>
            </a:endParaRP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Expand integration capacity – even business users can create and management integrations.</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Change integrations rapidly – dynamic data-model discovery.</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Progress business transformations – democratize business data.</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Migrate legacy applications – move from enterprise to SaaS.</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Enable Master Data Management – replicate and synchronize.</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Support multiple integration paradigms – batch, streaming, &amp; events.</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Manage integration security – minimize distributed connections.</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Reduce application development complexity – single integration hub.</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Reduce operational complexity – single pane of glass management.</a:t>
            </a:r>
          </a:p>
          <a:p>
            <a:pPr marL="342991" lvl="1" indent="-342991">
              <a:lnSpc>
                <a:spcPct val="150000"/>
              </a:lnSpc>
              <a:spcBef>
                <a:spcPts val="0"/>
              </a:spcBef>
              <a:spcAft>
                <a:spcPts val="450"/>
              </a:spcAft>
              <a:buFont typeface="Wingdings" panose="05000000000000000000" pitchFamily="2" charset="2"/>
              <a:buChar char="q"/>
            </a:pPr>
            <a:r>
              <a:rPr lang="en-US" sz="1200" dirty="0">
                <a:solidFill>
                  <a:schemeClr val="tx1"/>
                </a:solidFill>
              </a:rPr>
              <a:t>Increase business agility – CI/CD component architecture.</a:t>
            </a:r>
          </a:p>
          <a:p>
            <a:pPr marL="342991" lvl="1" indent="-342991">
              <a:lnSpc>
                <a:spcPct val="150000"/>
              </a:lnSpc>
              <a:spcBef>
                <a:spcPts val="0"/>
              </a:spcBef>
              <a:spcAft>
                <a:spcPts val="450"/>
              </a:spcAft>
              <a:buFont typeface="Wingdings" panose="05000000000000000000" pitchFamily="2" charset="2"/>
              <a:buChar char="q"/>
            </a:pPr>
            <a:endParaRPr lang="en-US" sz="1200" dirty="0">
              <a:solidFill>
                <a:schemeClr val="tx1"/>
              </a:solidFill>
            </a:endParaRPr>
          </a:p>
          <a:p>
            <a:pPr marL="342991" lvl="1" indent="-342991">
              <a:lnSpc>
                <a:spcPct val="150000"/>
              </a:lnSpc>
              <a:spcBef>
                <a:spcPts val="0"/>
              </a:spcBef>
              <a:spcAft>
                <a:spcPts val="450"/>
              </a:spcAft>
              <a:buFont typeface="Wingdings" panose="05000000000000000000" pitchFamily="2" charset="2"/>
              <a:buChar char="q"/>
            </a:pPr>
            <a:endParaRPr lang="en-US" sz="1200" dirty="0">
              <a:solidFill>
                <a:schemeClr val="tx1"/>
              </a:solidFill>
            </a:endParaRPr>
          </a:p>
          <a:p>
            <a:pPr marL="342991" lvl="1" indent="-342991">
              <a:lnSpc>
                <a:spcPct val="150000"/>
              </a:lnSpc>
              <a:spcBef>
                <a:spcPts val="0"/>
              </a:spcBef>
              <a:spcAft>
                <a:spcPts val="450"/>
              </a:spcAft>
              <a:buFont typeface="Wingdings" panose="05000000000000000000" pitchFamily="2" charset="2"/>
              <a:buChar char="q"/>
            </a:pPr>
            <a:endParaRPr lang="en-US" sz="1200" dirty="0">
              <a:solidFill>
                <a:schemeClr val="tx1"/>
              </a:solidFill>
              <a:cs typeface="Arial"/>
            </a:endParaRPr>
          </a:p>
          <a:p>
            <a:pPr lvl="2" indent="-120047">
              <a:spcBef>
                <a:spcPts val="0"/>
              </a:spcBef>
              <a:spcAft>
                <a:spcPts val="450"/>
              </a:spcAft>
            </a:pPr>
            <a:endParaRPr lang="en-US" sz="1200" dirty="0">
              <a:solidFill>
                <a:schemeClr val="tx1"/>
              </a:solidFill>
              <a:cs typeface="Arial"/>
            </a:endParaRPr>
          </a:p>
          <a:p>
            <a:pPr lvl="2" indent="-120047">
              <a:spcBef>
                <a:spcPts val="0"/>
              </a:spcBef>
              <a:spcAft>
                <a:spcPts val="450"/>
              </a:spcAft>
            </a:pPr>
            <a:endParaRPr lang="en-US" sz="1200" dirty="0">
              <a:solidFill>
                <a:schemeClr val="tx1"/>
              </a:solidFill>
              <a:cs typeface="Arial"/>
            </a:endParaRPr>
          </a:p>
        </p:txBody>
      </p:sp>
      <p:pic>
        <p:nvPicPr>
          <p:cNvPr id="3" name="Picture 2" descr="Diagram&#10;&#10;Description automatically generated">
            <a:extLst>
              <a:ext uri="{FF2B5EF4-FFF2-40B4-BE49-F238E27FC236}">
                <a16:creationId xmlns:a16="http://schemas.microsoft.com/office/drawing/2014/main" id="{182D6574-D785-C047-B5AD-29A93668EE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45256" y="2640728"/>
            <a:ext cx="3088067" cy="3008432"/>
          </a:xfrm>
          <a:prstGeom prst="rect">
            <a:avLst/>
          </a:prstGeom>
        </p:spPr>
      </p:pic>
    </p:spTree>
    <p:extLst>
      <p:ext uri="{BB962C8B-B14F-4D97-AF65-F5344CB8AC3E}">
        <p14:creationId xmlns:p14="http://schemas.microsoft.com/office/powerpoint/2010/main" val="124208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a:extLst>
              <a:ext uri="{FF2B5EF4-FFF2-40B4-BE49-F238E27FC236}">
                <a16:creationId xmlns:a16="http://schemas.microsoft.com/office/drawing/2014/main" id="{292C580D-3542-40CF-9898-F6B09D345FE2}"/>
              </a:ext>
            </a:extLst>
          </p:cNvPr>
          <p:cNvSpPr>
            <a:spLocks noGrp="1"/>
          </p:cNvSpPr>
          <p:nvPr>
            <p:ph type="sldNum" sz="quarter" idx="10"/>
          </p:nvPr>
        </p:nvSpPr>
        <p:spPr>
          <a:xfrm>
            <a:off x="1338978" y="5829212"/>
            <a:ext cx="342989" cy="137196"/>
          </a:xfrm>
        </p:spPr>
        <p:txBody>
          <a:bodyPr/>
          <a:lstStyle/>
          <a:p>
            <a:pPr>
              <a:spcAft>
                <a:spcPts val="450"/>
              </a:spcAft>
            </a:pPr>
            <a:fld id="{0B7C44DC-F45C-4D94-96EC-96DC3CAA6F18}" type="slidenum">
              <a:rPr lang="en-US" smtClean="0"/>
              <a:pPr>
                <a:spcAft>
                  <a:spcPts val="450"/>
                </a:spcAft>
              </a:pPr>
              <a:t>4</a:t>
            </a:fld>
            <a:endParaRPr lang="en-US"/>
          </a:p>
        </p:txBody>
      </p:sp>
      <p:pic>
        <p:nvPicPr>
          <p:cNvPr id="4" name="Picture 3" descr="Timeline&#10;&#10;Description automatically generated">
            <a:extLst>
              <a:ext uri="{FF2B5EF4-FFF2-40B4-BE49-F238E27FC236}">
                <a16:creationId xmlns:a16="http://schemas.microsoft.com/office/drawing/2014/main" id="{89C5CB8E-4037-964E-913B-9781788818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525" y="1542559"/>
            <a:ext cx="7045430" cy="4103962"/>
          </a:xfrm>
          <a:prstGeom prst="rect">
            <a:avLst/>
          </a:prstGeom>
          <a:noFill/>
        </p:spPr>
      </p:pic>
      <p:sp>
        <p:nvSpPr>
          <p:cNvPr id="3" name="DCIM Technology Adoption…">
            <a:extLst>
              <a:ext uri="{FF2B5EF4-FFF2-40B4-BE49-F238E27FC236}">
                <a16:creationId xmlns:a16="http://schemas.microsoft.com/office/drawing/2014/main" id="{F0FD27DB-72DC-4140-B033-9C70F7EA1C7A}"/>
              </a:ext>
            </a:extLst>
          </p:cNvPr>
          <p:cNvSpPr txBox="1">
            <a:spLocks/>
          </p:cNvSpPr>
          <p:nvPr/>
        </p:nvSpPr>
        <p:spPr>
          <a:xfrm>
            <a:off x="457867" y="960517"/>
            <a:ext cx="8228267" cy="501923"/>
          </a:xfrm>
          <a:prstGeom prst="rect">
            <a:avLst/>
          </a:prstGeom>
          <a:extLst>
            <a:ext uri="{C572A759-6A51-4108-AA02-DFA0A04FC94B}">
              <ma14:wrappingTextBoxFlag xmlns:ma14="http://schemas.microsoft.com/office/mac/drawingml/2011/main" xmlns="" val="1"/>
            </a:ext>
          </a:extLst>
        </p:spPr>
        <p:txBody>
          <a:bodyPr vert="horz" lIns="0" tIns="0" rIns="0" bIns="0" rtlCol="0" anchor="t" anchorCtr="0">
            <a:normAutofit fontScale="92500" lnSpcReduction="10000"/>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9pPr>
          </a:lstStyle>
          <a:p>
            <a:pPr algn="l" defTabSz="685777" fontAlgn="ctr">
              <a:lnSpc>
                <a:spcPct val="94000"/>
              </a:lnSpc>
              <a:spcBef>
                <a:spcPct val="0"/>
              </a:spcBef>
              <a:spcAft>
                <a:spcPts val="450"/>
              </a:spcAft>
              <a:defRPr sz="4800"/>
            </a:pPr>
            <a:r>
              <a:rPr lang="en-US" sz="2251" dirty="0">
                <a:solidFill>
                  <a:schemeClr val="tx1"/>
                </a:solidFill>
                <a:latin typeface="+mj-lt"/>
                <a:ea typeface="+mj-ea"/>
                <a:cs typeface="+mj-cs"/>
              </a:rPr>
              <a:t>A New Way of Working…!</a:t>
            </a:r>
          </a:p>
          <a:p>
            <a:pPr algn="l" defTabSz="685777" fontAlgn="ctr">
              <a:lnSpc>
                <a:spcPct val="94000"/>
              </a:lnSpc>
              <a:spcBef>
                <a:spcPct val="0"/>
              </a:spcBef>
              <a:spcAft>
                <a:spcPts val="450"/>
              </a:spcAft>
            </a:pPr>
            <a:r>
              <a:rPr lang="en-US" sz="1200" dirty="0">
                <a:solidFill>
                  <a:schemeClr val="tx1"/>
                </a:solidFill>
                <a:latin typeface="+mj-lt"/>
                <a:ea typeface="+mj-ea"/>
                <a:cs typeface="+mj-cs"/>
              </a:rPr>
              <a:t>Integration by Persona leveraging a common Integration Platform (Roles + Workflow + Automation)</a:t>
            </a:r>
          </a:p>
        </p:txBody>
      </p:sp>
    </p:spTree>
    <p:extLst>
      <p:ext uri="{BB962C8B-B14F-4D97-AF65-F5344CB8AC3E}">
        <p14:creationId xmlns:p14="http://schemas.microsoft.com/office/powerpoint/2010/main" val="241812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a:extLst>
              <a:ext uri="{FF2B5EF4-FFF2-40B4-BE49-F238E27FC236}">
                <a16:creationId xmlns:a16="http://schemas.microsoft.com/office/drawing/2014/main" id="{292C580D-3542-40CF-9898-F6B09D345FE2}"/>
              </a:ext>
            </a:extLst>
          </p:cNvPr>
          <p:cNvSpPr>
            <a:spLocks noGrp="1"/>
          </p:cNvSpPr>
          <p:nvPr>
            <p:ph type="sldNum" sz="quarter" idx="10"/>
          </p:nvPr>
        </p:nvSpPr>
        <p:spPr>
          <a:xfrm>
            <a:off x="1338978" y="5829212"/>
            <a:ext cx="342989" cy="137196"/>
          </a:xfrm>
        </p:spPr>
        <p:txBody>
          <a:bodyPr/>
          <a:lstStyle/>
          <a:p>
            <a:pPr>
              <a:spcAft>
                <a:spcPts val="450"/>
              </a:spcAft>
            </a:pPr>
            <a:fld id="{0B7C44DC-F45C-4D94-96EC-96DC3CAA6F18}" type="slidenum">
              <a:rPr lang="en-US" smtClean="0"/>
              <a:pPr>
                <a:spcAft>
                  <a:spcPts val="450"/>
                </a:spcAft>
              </a:pPr>
              <a:t>5</a:t>
            </a:fld>
            <a:endParaRPr lang="en-US"/>
          </a:p>
        </p:txBody>
      </p:sp>
      <p:sp>
        <p:nvSpPr>
          <p:cNvPr id="3" name="DCIM Technology Adoption…">
            <a:extLst>
              <a:ext uri="{FF2B5EF4-FFF2-40B4-BE49-F238E27FC236}">
                <a16:creationId xmlns:a16="http://schemas.microsoft.com/office/drawing/2014/main" id="{F0FD27DB-72DC-4140-B033-9C70F7EA1C7A}"/>
              </a:ext>
            </a:extLst>
          </p:cNvPr>
          <p:cNvSpPr txBox="1">
            <a:spLocks/>
          </p:cNvSpPr>
          <p:nvPr/>
        </p:nvSpPr>
        <p:spPr>
          <a:xfrm>
            <a:off x="457865" y="891592"/>
            <a:ext cx="8228267" cy="501923"/>
          </a:xfrm>
          <a:prstGeom prst="rect">
            <a:avLst/>
          </a:prstGeom>
          <a:extLst>
            <a:ext uri="{C572A759-6A51-4108-AA02-DFA0A04FC94B}">
              <ma14:wrappingTextBoxFlag xmlns:ma14="http://schemas.microsoft.com/office/mac/drawingml/2011/main" xmlns="" val="1"/>
            </a:ext>
          </a:extLst>
        </p:spPr>
        <p:txBody>
          <a:bodyPr vert="horz" lIns="0" tIns="0" rIns="0" bIns="0" rtlCol="0" anchor="t" anchorCtr="0">
            <a:normAutofit lnSpcReduction="10000"/>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9pPr>
          </a:lstStyle>
          <a:p>
            <a:pPr algn="l" defTabSz="685777" fontAlgn="ctr">
              <a:lnSpc>
                <a:spcPct val="94000"/>
              </a:lnSpc>
              <a:spcBef>
                <a:spcPct val="0"/>
              </a:spcBef>
              <a:spcAft>
                <a:spcPts val="450"/>
              </a:spcAft>
              <a:defRPr sz="4800"/>
            </a:pPr>
            <a:r>
              <a:rPr lang="en-US" sz="2101" dirty="0">
                <a:solidFill>
                  <a:schemeClr val="tx1"/>
                </a:solidFill>
                <a:latin typeface="+mj-lt"/>
                <a:ea typeface="+mj-ea"/>
                <a:cs typeface="+mj-cs"/>
              </a:rPr>
              <a:t>Key Integration Personas</a:t>
            </a:r>
          </a:p>
          <a:p>
            <a:pPr algn="l" defTabSz="685777" fontAlgn="ctr">
              <a:lnSpc>
                <a:spcPct val="94000"/>
              </a:lnSpc>
              <a:spcBef>
                <a:spcPct val="0"/>
              </a:spcBef>
              <a:spcAft>
                <a:spcPts val="450"/>
              </a:spcAft>
            </a:pPr>
            <a:r>
              <a:rPr lang="en-US" sz="1200" dirty="0">
                <a:solidFill>
                  <a:schemeClr val="tx1"/>
                </a:solidFill>
                <a:latin typeface="+mj-lt"/>
                <a:ea typeface="+mj-ea"/>
                <a:cs typeface="+mj-cs"/>
              </a:rPr>
              <a:t>Enablement by Role-Group and Usage Scenarios with a variety of Tools and Automation Capabilities</a:t>
            </a:r>
          </a:p>
        </p:txBody>
      </p:sp>
      <p:pic>
        <p:nvPicPr>
          <p:cNvPr id="5" name="Picture 4" descr="Diagram&#10;&#10;Description automatically generated">
            <a:extLst>
              <a:ext uri="{FF2B5EF4-FFF2-40B4-BE49-F238E27FC236}">
                <a16:creationId xmlns:a16="http://schemas.microsoft.com/office/drawing/2014/main" id="{36466586-B6C1-0642-89D0-5F3F6123B7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814" y="1612830"/>
            <a:ext cx="8912371" cy="3941391"/>
          </a:xfrm>
          <a:prstGeom prst="rect">
            <a:avLst/>
          </a:prstGeom>
        </p:spPr>
      </p:pic>
      <p:sp>
        <p:nvSpPr>
          <p:cNvPr id="7" name="We actually need more automation!">
            <a:extLst>
              <a:ext uri="{FF2B5EF4-FFF2-40B4-BE49-F238E27FC236}">
                <a16:creationId xmlns:a16="http://schemas.microsoft.com/office/drawing/2014/main" id="{6172B9FF-42D0-D747-ABDC-99A32818D429}"/>
              </a:ext>
            </a:extLst>
          </p:cNvPr>
          <p:cNvSpPr/>
          <p:nvPr/>
        </p:nvSpPr>
        <p:spPr>
          <a:xfrm>
            <a:off x="6467954" y="5245171"/>
            <a:ext cx="1283771" cy="652312"/>
          </a:xfrm>
          <a:prstGeom prst="wedgeEllipseCallout">
            <a:avLst>
              <a:gd name="adj1" fmla="val 36093"/>
              <a:gd name="adj2" fmla="val -69113"/>
            </a:avLst>
          </a:prstGeom>
          <a:solidFill>
            <a:srgbClr val="008E4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96" tIns="26796" rIns="26796" bIns="26796" anchor="ctr"/>
          <a:lstStyle/>
          <a:p>
            <a:pPr>
              <a:defRPr sz="2200" b="0" i="1">
                <a:solidFill>
                  <a:srgbClr val="FFFFFF"/>
                </a:solidFill>
              </a:defRPr>
            </a:pPr>
            <a:r>
              <a:rPr lang="en-US" sz="1161" b="1" dirty="0"/>
              <a:t>No-Code Tools Users</a:t>
            </a:r>
            <a:endParaRPr sz="1161" b="1" dirty="0"/>
          </a:p>
        </p:txBody>
      </p:sp>
      <p:sp>
        <p:nvSpPr>
          <p:cNvPr id="8" name="We actually need more automation!">
            <a:extLst>
              <a:ext uri="{FF2B5EF4-FFF2-40B4-BE49-F238E27FC236}">
                <a16:creationId xmlns:a16="http://schemas.microsoft.com/office/drawing/2014/main" id="{EE73D44C-22F7-C648-9739-0CDA8B3EA335}"/>
              </a:ext>
            </a:extLst>
          </p:cNvPr>
          <p:cNvSpPr/>
          <p:nvPr/>
        </p:nvSpPr>
        <p:spPr>
          <a:xfrm>
            <a:off x="1392276" y="5268441"/>
            <a:ext cx="1230473" cy="652312"/>
          </a:xfrm>
          <a:prstGeom prst="wedgeEllipseCallout">
            <a:avLst>
              <a:gd name="adj1" fmla="val 36093"/>
              <a:gd name="adj2" fmla="val -69113"/>
            </a:avLst>
          </a:prstGeom>
          <a:solidFill>
            <a:srgbClr val="008E4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96" tIns="26796" rIns="26796" bIns="26796" anchor="ctr"/>
          <a:lstStyle/>
          <a:p>
            <a:pPr>
              <a:defRPr sz="2200" b="0" i="1">
                <a:solidFill>
                  <a:srgbClr val="FFFFFF"/>
                </a:solidFill>
              </a:defRPr>
            </a:pPr>
            <a:r>
              <a:rPr lang="en-US" sz="1161" b="1" dirty="0"/>
              <a:t>High-Skill Integrators</a:t>
            </a:r>
            <a:endParaRPr sz="1161" b="1" dirty="0"/>
          </a:p>
        </p:txBody>
      </p:sp>
      <p:sp>
        <p:nvSpPr>
          <p:cNvPr id="10" name="How do we increase Operational Consistency in order to harvest Business Insights?">
            <a:extLst>
              <a:ext uri="{FF2B5EF4-FFF2-40B4-BE49-F238E27FC236}">
                <a16:creationId xmlns:a16="http://schemas.microsoft.com/office/drawing/2014/main" id="{10711612-D647-724E-961E-AD53D6C69186}"/>
              </a:ext>
            </a:extLst>
          </p:cNvPr>
          <p:cNvSpPr/>
          <p:nvPr/>
        </p:nvSpPr>
        <p:spPr>
          <a:xfrm>
            <a:off x="4053511" y="1462441"/>
            <a:ext cx="2485559" cy="501923"/>
          </a:xfrm>
          <a:prstGeom prst="roundRect">
            <a:avLst>
              <a:gd name="adj" fmla="val 15000"/>
            </a:avLst>
          </a:prstGeom>
          <a:solidFill>
            <a:schemeClr val="accent5">
              <a:lumMod val="75000"/>
            </a:schemeClr>
          </a:solidFill>
          <a:ln w="12700">
            <a:miter lim="400000"/>
          </a:ln>
          <a:extLst>
            <a:ext uri="{C572A759-6A51-4108-AA02-DFA0A04FC94B}">
              <ma14:wrappingTextBoxFlag xmlns="" xmlns:ma14="http://schemas.microsoft.com/office/mac/drawingml/2011/main" val="1"/>
            </a:ext>
          </a:extLst>
        </p:spPr>
        <p:txBody>
          <a:bodyPr lIns="26796" tIns="26796" rIns="26796" bIns="26796" anchor="ctr"/>
          <a:lstStyle>
            <a:lvl1pPr>
              <a:defRPr sz="2200" b="0">
                <a:solidFill>
                  <a:srgbClr val="FFFFFF"/>
                </a:solidFill>
                <a:latin typeface="+mn-lt"/>
                <a:ea typeface="+mn-ea"/>
                <a:cs typeface="+mn-cs"/>
                <a:sym typeface="Helvetica Neue Medium"/>
              </a:defRPr>
            </a:lvl1pPr>
          </a:lstStyle>
          <a:p>
            <a:pPr algn="ctr"/>
            <a:r>
              <a:rPr lang="en-US" sz="1200" b="1" dirty="0"/>
              <a:t>Roles + Workflow + Automation</a:t>
            </a:r>
            <a:endParaRPr sz="1200" b="1" dirty="0"/>
          </a:p>
        </p:txBody>
      </p:sp>
    </p:spTree>
    <p:extLst>
      <p:ext uri="{BB962C8B-B14F-4D97-AF65-F5344CB8AC3E}">
        <p14:creationId xmlns:p14="http://schemas.microsoft.com/office/powerpoint/2010/main" val="169435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a:extLst>
              <a:ext uri="{FF2B5EF4-FFF2-40B4-BE49-F238E27FC236}">
                <a16:creationId xmlns:a16="http://schemas.microsoft.com/office/drawing/2014/main" id="{292C580D-3542-40CF-9898-F6B09D345FE2}"/>
              </a:ext>
            </a:extLst>
          </p:cNvPr>
          <p:cNvSpPr>
            <a:spLocks noGrp="1"/>
          </p:cNvSpPr>
          <p:nvPr>
            <p:ph type="sldNum" sz="quarter" idx="10"/>
          </p:nvPr>
        </p:nvSpPr>
        <p:spPr>
          <a:xfrm>
            <a:off x="1338978" y="5829212"/>
            <a:ext cx="342989" cy="137196"/>
          </a:xfrm>
        </p:spPr>
        <p:txBody>
          <a:bodyPr/>
          <a:lstStyle/>
          <a:p>
            <a:pPr>
              <a:spcAft>
                <a:spcPts val="450"/>
              </a:spcAft>
            </a:pPr>
            <a:fld id="{0B7C44DC-F45C-4D94-96EC-96DC3CAA6F18}" type="slidenum">
              <a:rPr lang="en-US" smtClean="0"/>
              <a:pPr>
                <a:spcAft>
                  <a:spcPts val="450"/>
                </a:spcAft>
              </a:pPr>
              <a:t>6</a:t>
            </a:fld>
            <a:endParaRPr lang="en-US"/>
          </a:p>
        </p:txBody>
      </p:sp>
      <p:sp>
        <p:nvSpPr>
          <p:cNvPr id="3" name="DCIM Technology Adoption…">
            <a:extLst>
              <a:ext uri="{FF2B5EF4-FFF2-40B4-BE49-F238E27FC236}">
                <a16:creationId xmlns:a16="http://schemas.microsoft.com/office/drawing/2014/main" id="{F0FD27DB-72DC-4140-B033-9C70F7EA1C7A}"/>
              </a:ext>
            </a:extLst>
          </p:cNvPr>
          <p:cNvSpPr txBox="1">
            <a:spLocks/>
          </p:cNvSpPr>
          <p:nvPr/>
        </p:nvSpPr>
        <p:spPr>
          <a:xfrm>
            <a:off x="457867" y="960517"/>
            <a:ext cx="8228267" cy="501923"/>
          </a:xfrm>
          <a:prstGeom prst="rect">
            <a:avLst/>
          </a:prstGeom>
          <a:extLst>
            <a:ext uri="{C572A759-6A51-4108-AA02-DFA0A04FC94B}">
              <ma14:wrappingTextBoxFlag xmlns:ma14="http://schemas.microsoft.com/office/mac/drawingml/2011/main" xmlns="" val="1"/>
            </a:ext>
          </a:extLst>
        </p:spPr>
        <p:txBody>
          <a:bodyPr vert="horz" lIns="0" tIns="0" rIns="0" bIns="0" rtlCol="0" anchor="t" anchorCtr="0">
            <a:normAutofit lnSpcReduction="10000"/>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9pPr>
          </a:lstStyle>
          <a:p>
            <a:pPr algn="l" defTabSz="685777" fontAlgn="ctr">
              <a:lnSpc>
                <a:spcPct val="94000"/>
              </a:lnSpc>
              <a:spcBef>
                <a:spcPct val="0"/>
              </a:spcBef>
              <a:spcAft>
                <a:spcPts val="450"/>
              </a:spcAft>
              <a:defRPr sz="4800"/>
            </a:pPr>
            <a:r>
              <a:rPr lang="en-US" sz="2101" dirty="0">
                <a:solidFill>
                  <a:schemeClr val="tx1"/>
                </a:solidFill>
                <a:latin typeface="+mj-lt"/>
                <a:ea typeface="+mj-ea"/>
                <a:cs typeface="+mj-cs"/>
              </a:rPr>
              <a:t>iPaaS Solution by Functional Area</a:t>
            </a:r>
          </a:p>
          <a:p>
            <a:pPr algn="l" defTabSz="685777" fontAlgn="ctr">
              <a:lnSpc>
                <a:spcPct val="94000"/>
              </a:lnSpc>
              <a:spcBef>
                <a:spcPct val="0"/>
              </a:spcBef>
              <a:spcAft>
                <a:spcPts val="450"/>
              </a:spcAft>
            </a:pPr>
            <a:r>
              <a:rPr lang="en-US" sz="1200" dirty="0">
                <a:solidFill>
                  <a:schemeClr val="tx1"/>
                </a:solidFill>
                <a:latin typeface="+mj-lt"/>
                <a:ea typeface="+mj-ea"/>
                <a:cs typeface="+mj-cs"/>
              </a:rPr>
              <a:t>A Hybrid Integration Platform Capability Framework (Roles + Workflow + Automation)</a:t>
            </a:r>
          </a:p>
        </p:txBody>
      </p:sp>
      <p:pic>
        <p:nvPicPr>
          <p:cNvPr id="5" name="Picture 4" descr="Graphical user interface, application&#10;&#10;Description automatically generated">
            <a:extLst>
              <a:ext uri="{FF2B5EF4-FFF2-40B4-BE49-F238E27FC236}">
                <a16:creationId xmlns:a16="http://schemas.microsoft.com/office/drawing/2014/main" id="{E93F6262-7650-1242-B922-241813C316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631" y="1623760"/>
            <a:ext cx="8778739" cy="4053528"/>
          </a:xfrm>
          <a:prstGeom prst="rect">
            <a:avLst/>
          </a:prstGeom>
        </p:spPr>
      </p:pic>
      <p:sp>
        <p:nvSpPr>
          <p:cNvPr id="7" name="How do we increase Operational Consistency in order to harvest Business Insights?">
            <a:extLst>
              <a:ext uri="{FF2B5EF4-FFF2-40B4-BE49-F238E27FC236}">
                <a16:creationId xmlns:a16="http://schemas.microsoft.com/office/drawing/2014/main" id="{F60FC694-264D-4046-8AD4-21909AF03F86}"/>
              </a:ext>
            </a:extLst>
          </p:cNvPr>
          <p:cNvSpPr/>
          <p:nvPr/>
        </p:nvSpPr>
        <p:spPr>
          <a:xfrm>
            <a:off x="652445" y="3637171"/>
            <a:ext cx="7839109" cy="2040118"/>
          </a:xfrm>
          <a:prstGeom prst="roundRect">
            <a:avLst>
              <a:gd name="adj" fmla="val 15000"/>
            </a:avLst>
          </a:prstGeom>
          <a:solidFill>
            <a:schemeClr val="tx2">
              <a:lumMod val="50000"/>
            </a:schemeClr>
          </a:solidFill>
          <a:ln w="12700">
            <a:miter lim="400000"/>
          </a:ln>
          <a:extLst>
            <a:ext uri="{C572A759-6A51-4108-AA02-DFA0A04FC94B}">
              <ma14:wrappingTextBoxFlag xmlns="" xmlns:ma14="http://schemas.microsoft.com/office/mac/drawingml/2011/main" val="1"/>
            </a:ext>
          </a:extLst>
        </p:spPr>
        <p:txBody>
          <a:bodyPr lIns="26796" tIns="26796" rIns="26796" bIns="26796" anchor="ctr"/>
          <a:lstStyle>
            <a:lvl1pPr>
              <a:defRPr sz="2200" b="0">
                <a:solidFill>
                  <a:srgbClr val="FFFFFF"/>
                </a:solidFill>
                <a:latin typeface="+mn-lt"/>
                <a:ea typeface="+mn-ea"/>
                <a:cs typeface="+mn-cs"/>
                <a:sym typeface="Helvetica Neue Medium"/>
              </a:defRPr>
            </a:lvl1pPr>
          </a:lstStyle>
          <a:p>
            <a:r>
              <a:rPr lang="en-US" sz="2101" b="1" dirty="0"/>
              <a:t>How to realize this Platform Capability Framework…?</a:t>
            </a:r>
          </a:p>
          <a:p>
            <a:pPr marL="257244" indent="-257244">
              <a:buFont typeface="Arial" panose="020B0604020202020204" pitchFamily="34" charset="0"/>
              <a:buChar char="•"/>
            </a:pPr>
            <a:r>
              <a:rPr lang="en-US" sz="1800" dirty="0"/>
              <a:t>Use a matrix to identify current and required capabilities based on business domains, personas, and use-cases.</a:t>
            </a:r>
          </a:p>
          <a:p>
            <a:pPr marL="257244" indent="-257244">
              <a:buFont typeface="Arial" panose="020B0604020202020204" pitchFamily="34" charset="0"/>
              <a:buChar char="•"/>
            </a:pPr>
            <a:r>
              <a:rPr lang="en-US" sz="1800" dirty="0"/>
              <a:t>Create a democratized hybrid integration platform consisting of multiple capabilities by iPaaS functional-area.</a:t>
            </a:r>
          </a:p>
          <a:p>
            <a:pPr marL="257244" indent="-257244">
              <a:buFont typeface="Arial" panose="020B0604020202020204" pitchFamily="34" charset="0"/>
              <a:buChar char="•"/>
            </a:pPr>
            <a:r>
              <a:rPr lang="en-US" sz="1800" dirty="0"/>
              <a:t>Provide clear guidance on when to use each integration technology.</a:t>
            </a:r>
            <a:endParaRPr sz="1800" dirty="0"/>
          </a:p>
        </p:txBody>
      </p:sp>
    </p:spTree>
    <p:extLst>
      <p:ext uri="{BB962C8B-B14F-4D97-AF65-F5344CB8AC3E}">
        <p14:creationId xmlns:p14="http://schemas.microsoft.com/office/powerpoint/2010/main" val="1612816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a:extLst>
              <a:ext uri="{FF2B5EF4-FFF2-40B4-BE49-F238E27FC236}">
                <a16:creationId xmlns:a16="http://schemas.microsoft.com/office/drawing/2014/main" id="{292C580D-3542-40CF-9898-F6B09D345FE2}"/>
              </a:ext>
            </a:extLst>
          </p:cNvPr>
          <p:cNvSpPr>
            <a:spLocks noGrp="1"/>
          </p:cNvSpPr>
          <p:nvPr>
            <p:ph type="sldNum" sz="quarter" idx="10"/>
          </p:nvPr>
        </p:nvSpPr>
        <p:spPr>
          <a:xfrm>
            <a:off x="1338978" y="5829212"/>
            <a:ext cx="342989" cy="137196"/>
          </a:xfrm>
        </p:spPr>
        <p:txBody>
          <a:bodyPr/>
          <a:lstStyle/>
          <a:p>
            <a:pPr>
              <a:spcAft>
                <a:spcPts val="450"/>
              </a:spcAft>
            </a:pPr>
            <a:fld id="{0B7C44DC-F45C-4D94-96EC-96DC3CAA6F18}" type="slidenum">
              <a:rPr lang="en-US" smtClean="0"/>
              <a:pPr>
                <a:spcAft>
                  <a:spcPts val="450"/>
                </a:spcAft>
              </a:pPr>
              <a:t>7</a:t>
            </a:fld>
            <a:endParaRPr lang="en-US"/>
          </a:p>
        </p:txBody>
      </p:sp>
      <p:sp>
        <p:nvSpPr>
          <p:cNvPr id="3" name="DCIM Technology Adoption…">
            <a:extLst>
              <a:ext uri="{FF2B5EF4-FFF2-40B4-BE49-F238E27FC236}">
                <a16:creationId xmlns:a16="http://schemas.microsoft.com/office/drawing/2014/main" id="{F0FD27DB-72DC-4140-B033-9C70F7EA1C7A}"/>
              </a:ext>
            </a:extLst>
          </p:cNvPr>
          <p:cNvSpPr txBox="1">
            <a:spLocks/>
          </p:cNvSpPr>
          <p:nvPr/>
        </p:nvSpPr>
        <p:spPr>
          <a:xfrm>
            <a:off x="457867" y="960517"/>
            <a:ext cx="8228267" cy="501923"/>
          </a:xfrm>
          <a:prstGeom prst="rect">
            <a:avLst/>
          </a:prstGeom>
          <a:extLst>
            <a:ext uri="{C572A759-6A51-4108-AA02-DFA0A04FC94B}">
              <ma14:wrappingTextBoxFlag xmlns:ma14="http://schemas.microsoft.com/office/mac/drawingml/2011/main" xmlns="" val="1"/>
            </a:ext>
          </a:extLst>
        </p:spPr>
        <p:txBody>
          <a:bodyPr vert="horz" lIns="0" tIns="0" rIns="0" bIns="0" rtlCol="0" anchor="t" anchorCtr="0">
            <a:normAutofit fontScale="92500" lnSpcReduction="10000"/>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9pPr>
          </a:lstStyle>
          <a:p>
            <a:pPr algn="l" defTabSz="685777" fontAlgn="ctr">
              <a:lnSpc>
                <a:spcPct val="94000"/>
              </a:lnSpc>
              <a:spcBef>
                <a:spcPct val="0"/>
              </a:spcBef>
              <a:spcAft>
                <a:spcPts val="450"/>
              </a:spcAft>
              <a:defRPr sz="4800"/>
            </a:pPr>
            <a:r>
              <a:rPr lang="en-US" sz="2101" dirty="0">
                <a:solidFill>
                  <a:schemeClr val="tx1"/>
                </a:solidFill>
                <a:latin typeface="+mj-lt"/>
                <a:ea typeface="+mj-ea"/>
                <a:cs typeface="+mj-cs"/>
              </a:rPr>
              <a:t>Integration Persona Capability Matrix</a:t>
            </a:r>
          </a:p>
          <a:p>
            <a:pPr algn="l" defTabSz="685777" fontAlgn="ctr">
              <a:lnSpc>
                <a:spcPct val="94000"/>
              </a:lnSpc>
              <a:spcBef>
                <a:spcPct val="0"/>
              </a:spcBef>
              <a:spcAft>
                <a:spcPts val="450"/>
              </a:spcAft>
            </a:pPr>
            <a:r>
              <a:rPr lang="en-US" sz="1500" dirty="0">
                <a:solidFill>
                  <a:schemeClr val="tx2">
                    <a:lumMod val="60000"/>
                    <a:lumOff val="40000"/>
                  </a:schemeClr>
                </a:solidFill>
                <a:latin typeface="+mj-lt"/>
                <a:ea typeface="+mj-ea"/>
                <a:cs typeface="+mj-cs"/>
              </a:rPr>
              <a:t>What types of Integrations can be done by whom?</a:t>
            </a:r>
          </a:p>
        </p:txBody>
      </p:sp>
      <p:graphicFrame>
        <p:nvGraphicFramePr>
          <p:cNvPr id="2" name="Table 3">
            <a:extLst>
              <a:ext uri="{FF2B5EF4-FFF2-40B4-BE49-F238E27FC236}">
                <a16:creationId xmlns:a16="http://schemas.microsoft.com/office/drawing/2014/main" id="{3FA1F753-AC86-2A47-85B1-DC2CE0A54FAF}"/>
              </a:ext>
            </a:extLst>
          </p:cNvPr>
          <p:cNvGraphicFramePr>
            <a:graphicFrameLocks noGrp="1"/>
          </p:cNvGraphicFramePr>
          <p:nvPr/>
        </p:nvGraphicFramePr>
        <p:xfrm>
          <a:off x="457866" y="1817161"/>
          <a:ext cx="8228269" cy="3693924"/>
        </p:xfrm>
        <a:graphic>
          <a:graphicData uri="http://schemas.openxmlformats.org/drawingml/2006/table">
            <a:tbl>
              <a:tblPr firstRow="1" bandRow="1">
                <a:tableStyleId>{5C22544A-7EE6-4342-B048-85BDC9FD1C3A}</a:tableStyleId>
              </a:tblPr>
              <a:tblGrid>
                <a:gridCol w="1175467">
                  <a:extLst>
                    <a:ext uri="{9D8B030D-6E8A-4147-A177-3AD203B41FA5}">
                      <a16:colId xmlns:a16="http://schemas.microsoft.com/office/drawing/2014/main" val="305992388"/>
                    </a:ext>
                  </a:extLst>
                </a:gridCol>
                <a:gridCol w="1175467">
                  <a:extLst>
                    <a:ext uri="{9D8B030D-6E8A-4147-A177-3AD203B41FA5}">
                      <a16:colId xmlns:a16="http://schemas.microsoft.com/office/drawing/2014/main" val="1845614551"/>
                    </a:ext>
                  </a:extLst>
                </a:gridCol>
                <a:gridCol w="1175467">
                  <a:extLst>
                    <a:ext uri="{9D8B030D-6E8A-4147-A177-3AD203B41FA5}">
                      <a16:colId xmlns:a16="http://schemas.microsoft.com/office/drawing/2014/main" val="3472627198"/>
                    </a:ext>
                  </a:extLst>
                </a:gridCol>
                <a:gridCol w="1175467">
                  <a:extLst>
                    <a:ext uri="{9D8B030D-6E8A-4147-A177-3AD203B41FA5}">
                      <a16:colId xmlns:a16="http://schemas.microsoft.com/office/drawing/2014/main" val="2027036631"/>
                    </a:ext>
                  </a:extLst>
                </a:gridCol>
                <a:gridCol w="1175467">
                  <a:extLst>
                    <a:ext uri="{9D8B030D-6E8A-4147-A177-3AD203B41FA5}">
                      <a16:colId xmlns:a16="http://schemas.microsoft.com/office/drawing/2014/main" val="2051345219"/>
                    </a:ext>
                  </a:extLst>
                </a:gridCol>
                <a:gridCol w="1175467">
                  <a:extLst>
                    <a:ext uri="{9D8B030D-6E8A-4147-A177-3AD203B41FA5}">
                      <a16:colId xmlns:a16="http://schemas.microsoft.com/office/drawing/2014/main" val="3526684581"/>
                    </a:ext>
                  </a:extLst>
                </a:gridCol>
                <a:gridCol w="1175467">
                  <a:extLst>
                    <a:ext uri="{9D8B030D-6E8A-4147-A177-3AD203B41FA5}">
                      <a16:colId xmlns:a16="http://schemas.microsoft.com/office/drawing/2014/main" val="2375212440"/>
                    </a:ext>
                  </a:extLst>
                </a:gridCol>
              </a:tblGrid>
              <a:tr h="685979">
                <a:tc>
                  <a:txBody>
                    <a:bodyPr/>
                    <a:lstStyle/>
                    <a:p>
                      <a:endParaRPr lang="en-US" sz="1400" dirty="0"/>
                    </a:p>
                  </a:txBody>
                  <a:tcPr marL="68598" marR="68598" marT="34299" marB="34299"/>
                </a:tc>
                <a:tc>
                  <a:txBody>
                    <a:bodyPr/>
                    <a:lstStyle/>
                    <a:p>
                      <a:r>
                        <a:rPr lang="en-US" sz="1400" dirty="0"/>
                        <a:t>Specialist</a:t>
                      </a:r>
                    </a:p>
                    <a:p>
                      <a:r>
                        <a:rPr lang="en-US" sz="1400" dirty="0"/>
                        <a:t>(ESB)</a:t>
                      </a:r>
                    </a:p>
                  </a:txBody>
                  <a:tcPr marL="68598" marR="68598" marT="34299" marB="34299">
                    <a:solidFill>
                      <a:schemeClr val="tx2">
                        <a:lumMod val="75000"/>
                        <a:lumOff val="25000"/>
                      </a:schemeClr>
                    </a:solidFill>
                  </a:tcPr>
                </a:tc>
                <a:tc>
                  <a:txBody>
                    <a:bodyPr/>
                    <a:lstStyle/>
                    <a:p>
                      <a:r>
                        <a:rPr lang="en-US" sz="1400" dirty="0"/>
                        <a:t>Specialist</a:t>
                      </a:r>
                    </a:p>
                    <a:p>
                      <a:r>
                        <a:rPr lang="en-US" sz="1400" dirty="0"/>
                        <a:t>(ETL)</a:t>
                      </a:r>
                    </a:p>
                  </a:txBody>
                  <a:tcPr marL="68598" marR="68598" marT="34299" marB="34299">
                    <a:solidFill>
                      <a:schemeClr val="tx2">
                        <a:lumMod val="75000"/>
                        <a:lumOff val="25000"/>
                      </a:schemeClr>
                    </a:solidFill>
                  </a:tcPr>
                </a:tc>
                <a:tc>
                  <a:txBody>
                    <a:bodyPr/>
                    <a:lstStyle/>
                    <a:p>
                      <a:r>
                        <a:rPr lang="en-US" sz="1400" dirty="0"/>
                        <a:t>Ad Hoc</a:t>
                      </a:r>
                    </a:p>
                    <a:p>
                      <a:r>
                        <a:rPr lang="en-US" sz="1400" dirty="0"/>
                        <a:t>(App Dev)</a:t>
                      </a:r>
                    </a:p>
                  </a:txBody>
                  <a:tcPr marL="68598" marR="68598" marT="34299" marB="34299">
                    <a:solidFill>
                      <a:schemeClr val="tx2">
                        <a:lumMod val="75000"/>
                        <a:lumOff val="25000"/>
                      </a:schemeClr>
                    </a:solidFill>
                  </a:tcPr>
                </a:tc>
                <a:tc>
                  <a:txBody>
                    <a:bodyPr/>
                    <a:lstStyle/>
                    <a:p>
                      <a:r>
                        <a:rPr lang="en-US" sz="1400" dirty="0"/>
                        <a:t>Ad Hoc</a:t>
                      </a:r>
                    </a:p>
                    <a:p>
                      <a:r>
                        <a:rPr lang="en-US" sz="1400" dirty="0"/>
                        <a:t>(DBA)</a:t>
                      </a:r>
                    </a:p>
                  </a:txBody>
                  <a:tcPr marL="68598" marR="68598" marT="34299" marB="34299">
                    <a:solidFill>
                      <a:schemeClr val="tx2">
                        <a:lumMod val="75000"/>
                        <a:lumOff val="25000"/>
                      </a:schemeClr>
                    </a:solidFill>
                  </a:tcPr>
                </a:tc>
                <a:tc>
                  <a:txBody>
                    <a:bodyPr/>
                    <a:lstStyle/>
                    <a:p>
                      <a:r>
                        <a:rPr lang="en-US" sz="1400" dirty="0"/>
                        <a:t>Ad Hoc</a:t>
                      </a:r>
                    </a:p>
                    <a:p>
                      <a:r>
                        <a:rPr lang="en-US" sz="1400" dirty="0"/>
                        <a:t>(SaaS Admin)</a:t>
                      </a:r>
                    </a:p>
                  </a:txBody>
                  <a:tcPr marL="68598" marR="68598" marT="34299" marB="34299">
                    <a:solidFill>
                      <a:schemeClr val="tx2">
                        <a:lumMod val="75000"/>
                        <a:lumOff val="25000"/>
                      </a:schemeClr>
                    </a:solidFill>
                  </a:tcPr>
                </a:tc>
                <a:tc>
                  <a:txBody>
                    <a:bodyPr/>
                    <a:lstStyle/>
                    <a:p>
                      <a:r>
                        <a:rPr lang="en-US" sz="1400" dirty="0"/>
                        <a:t>Citizen</a:t>
                      </a:r>
                    </a:p>
                    <a:p>
                      <a:r>
                        <a:rPr lang="en-US" sz="1400" dirty="0"/>
                        <a:t>(Bus Analyst)</a:t>
                      </a:r>
                    </a:p>
                  </a:txBody>
                  <a:tcPr marL="68598" marR="68598" marT="34299" marB="34299">
                    <a:solidFill>
                      <a:schemeClr val="tx2">
                        <a:lumMod val="75000"/>
                        <a:lumOff val="25000"/>
                      </a:schemeClr>
                    </a:solidFill>
                  </a:tcPr>
                </a:tc>
                <a:extLst>
                  <a:ext uri="{0D108BD9-81ED-4DB2-BD59-A6C34878D82A}">
                    <a16:rowId xmlns:a16="http://schemas.microsoft.com/office/drawing/2014/main" val="507531263"/>
                  </a:ext>
                </a:extLst>
              </a:tr>
              <a:tr h="569142">
                <a:tc>
                  <a:txBody>
                    <a:bodyPr/>
                    <a:lstStyle/>
                    <a:p>
                      <a:r>
                        <a:rPr lang="en-US" sz="1400" b="1" dirty="0"/>
                        <a:t>Legacy Integration</a:t>
                      </a:r>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extLst>
                  <a:ext uri="{0D108BD9-81ED-4DB2-BD59-A6C34878D82A}">
                    <a16:rowId xmlns:a16="http://schemas.microsoft.com/office/drawing/2014/main" val="3661976614"/>
                  </a:ext>
                </a:extLst>
              </a:tr>
              <a:tr h="569142">
                <a:tc>
                  <a:txBody>
                    <a:bodyPr/>
                    <a:lstStyle/>
                    <a:p>
                      <a:r>
                        <a:rPr lang="en-US" sz="1400" b="1" dirty="0"/>
                        <a:t>Agile Integration</a:t>
                      </a:r>
                    </a:p>
                  </a:txBody>
                  <a:tcPr marL="68598" marR="68598" marT="34299" marB="34299"/>
                </a:tc>
                <a:tc>
                  <a:txBody>
                    <a:bodyPr/>
                    <a:lstStyle/>
                    <a:p>
                      <a:pPr algn="ctr"/>
                      <a:endParaRPr lang="en-US" sz="1400"/>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extLst>
                  <a:ext uri="{0D108BD9-81ED-4DB2-BD59-A6C34878D82A}">
                    <a16:rowId xmlns:a16="http://schemas.microsoft.com/office/drawing/2014/main" val="2424489655"/>
                  </a:ext>
                </a:extLst>
              </a:tr>
              <a:tr h="685979">
                <a:tc>
                  <a:txBody>
                    <a:bodyPr/>
                    <a:lstStyle/>
                    <a:p>
                      <a:r>
                        <a:rPr lang="en-US" sz="1400" b="1" dirty="0"/>
                        <a:t>Data Synchronization</a:t>
                      </a:r>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extLst>
                  <a:ext uri="{0D108BD9-81ED-4DB2-BD59-A6C34878D82A}">
                    <a16:rowId xmlns:a16="http://schemas.microsoft.com/office/drawing/2014/main" val="2709282969"/>
                  </a:ext>
                </a:extLst>
              </a:tr>
              <a:tr h="569142">
                <a:tc>
                  <a:txBody>
                    <a:bodyPr/>
                    <a:lstStyle/>
                    <a:p>
                      <a:r>
                        <a:rPr lang="en-US" sz="1400" b="1" dirty="0"/>
                        <a:t>Streaming Integration</a:t>
                      </a:r>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extLst>
                  <a:ext uri="{0D108BD9-81ED-4DB2-BD59-A6C34878D82A}">
                    <a16:rowId xmlns:a16="http://schemas.microsoft.com/office/drawing/2014/main" val="1752746640"/>
                  </a:ext>
                </a:extLst>
              </a:tr>
              <a:tr h="569142">
                <a:tc>
                  <a:txBody>
                    <a:bodyPr/>
                    <a:lstStyle/>
                    <a:p>
                      <a:r>
                        <a:rPr lang="en-US" sz="1400" b="1" dirty="0"/>
                        <a:t>Publish &amp; Subscribe</a:t>
                      </a:r>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extLst>
                  <a:ext uri="{0D108BD9-81ED-4DB2-BD59-A6C34878D82A}">
                    <a16:rowId xmlns:a16="http://schemas.microsoft.com/office/drawing/2014/main" val="560712839"/>
                  </a:ext>
                </a:extLst>
              </a:tr>
            </a:tbl>
          </a:graphicData>
        </a:graphic>
      </p:graphicFrame>
      <p:pic>
        <p:nvPicPr>
          <p:cNvPr id="6" name="Graphic 5" descr="Checkbox Checked with solid fill">
            <a:extLst>
              <a:ext uri="{FF2B5EF4-FFF2-40B4-BE49-F238E27FC236}">
                <a16:creationId xmlns:a16="http://schemas.microsoft.com/office/drawing/2014/main" id="{89B72131-36B5-ED47-BCB8-B0920DC5D8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39326" y="2376020"/>
            <a:ext cx="526490" cy="526490"/>
          </a:xfrm>
          <a:prstGeom prst="rect">
            <a:avLst/>
          </a:prstGeom>
        </p:spPr>
      </p:pic>
      <p:pic>
        <p:nvPicPr>
          <p:cNvPr id="10" name="Graphic 9" descr="Checkbox Checked with solid fill">
            <a:extLst>
              <a:ext uri="{FF2B5EF4-FFF2-40B4-BE49-F238E27FC236}">
                <a16:creationId xmlns:a16="http://schemas.microsoft.com/office/drawing/2014/main" id="{56BBF62F-BEDA-2344-BEB5-C02850534EA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28974" y="2406114"/>
            <a:ext cx="526490" cy="526490"/>
          </a:xfrm>
          <a:prstGeom prst="rect">
            <a:avLst/>
          </a:prstGeom>
        </p:spPr>
      </p:pic>
      <p:pic>
        <p:nvPicPr>
          <p:cNvPr id="11" name="Graphic 10" descr="Checkbox Checked with solid fill">
            <a:extLst>
              <a:ext uri="{FF2B5EF4-FFF2-40B4-BE49-F238E27FC236}">
                <a16:creationId xmlns:a16="http://schemas.microsoft.com/office/drawing/2014/main" id="{3D210F01-0656-A541-AAE3-918CACCCB5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19166" y="3564876"/>
            <a:ext cx="526490" cy="526490"/>
          </a:xfrm>
          <a:prstGeom prst="rect">
            <a:avLst/>
          </a:prstGeom>
        </p:spPr>
      </p:pic>
      <p:pic>
        <p:nvPicPr>
          <p:cNvPr id="12" name="Graphic 11" descr="Checkbox Checked with solid fill">
            <a:extLst>
              <a:ext uri="{FF2B5EF4-FFF2-40B4-BE49-F238E27FC236}">
                <a16:creationId xmlns:a16="http://schemas.microsoft.com/office/drawing/2014/main" id="{9340E466-8E27-4145-A23F-939C12BA598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52930" y="3553438"/>
            <a:ext cx="526490" cy="526490"/>
          </a:xfrm>
          <a:prstGeom prst="rect">
            <a:avLst/>
          </a:prstGeom>
        </p:spPr>
      </p:pic>
      <p:pic>
        <p:nvPicPr>
          <p:cNvPr id="13" name="Graphic 12" descr="Checkbox Checked with solid fill">
            <a:extLst>
              <a:ext uri="{FF2B5EF4-FFF2-40B4-BE49-F238E27FC236}">
                <a16:creationId xmlns:a16="http://schemas.microsoft.com/office/drawing/2014/main" id="{348DE750-7100-3546-B72B-805C0ED7E8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28974" y="4120629"/>
            <a:ext cx="526490" cy="526490"/>
          </a:xfrm>
          <a:prstGeom prst="rect">
            <a:avLst/>
          </a:prstGeom>
        </p:spPr>
      </p:pic>
      <p:pic>
        <p:nvPicPr>
          <p:cNvPr id="14" name="Graphic 13" descr="Checkbox Checked with solid fill">
            <a:extLst>
              <a:ext uri="{FF2B5EF4-FFF2-40B4-BE49-F238E27FC236}">
                <a16:creationId xmlns:a16="http://schemas.microsoft.com/office/drawing/2014/main" id="{481F9519-662F-FF44-80A8-1BCA0B9F6D7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35641" y="3564876"/>
            <a:ext cx="526490" cy="526490"/>
          </a:xfrm>
          <a:prstGeom prst="rect">
            <a:avLst/>
          </a:prstGeom>
        </p:spPr>
      </p:pic>
      <p:pic>
        <p:nvPicPr>
          <p:cNvPr id="15" name="Graphic 14" descr="Checkbox Checked with solid fill">
            <a:extLst>
              <a:ext uri="{FF2B5EF4-FFF2-40B4-BE49-F238E27FC236}">
                <a16:creationId xmlns:a16="http://schemas.microsoft.com/office/drawing/2014/main" id="{0390200C-D6F6-434D-A2EF-CF925A2BF8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89082" y="3001314"/>
            <a:ext cx="526490" cy="526490"/>
          </a:xfrm>
          <a:prstGeom prst="rect">
            <a:avLst/>
          </a:prstGeom>
        </p:spPr>
      </p:pic>
      <p:pic>
        <p:nvPicPr>
          <p:cNvPr id="16" name="Graphic 15" descr="Checkbox Checked with solid fill">
            <a:extLst>
              <a:ext uri="{FF2B5EF4-FFF2-40B4-BE49-F238E27FC236}">
                <a16:creationId xmlns:a16="http://schemas.microsoft.com/office/drawing/2014/main" id="{5DFDF788-E934-1845-AB52-966BE98E552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8914" y="4079928"/>
            <a:ext cx="526490" cy="526490"/>
          </a:xfrm>
          <a:prstGeom prst="rect">
            <a:avLst/>
          </a:prstGeom>
        </p:spPr>
      </p:pic>
      <p:pic>
        <p:nvPicPr>
          <p:cNvPr id="17" name="Graphic 16" descr="Checkbox Checked with solid fill">
            <a:extLst>
              <a:ext uri="{FF2B5EF4-FFF2-40B4-BE49-F238E27FC236}">
                <a16:creationId xmlns:a16="http://schemas.microsoft.com/office/drawing/2014/main" id="{161F1DD0-67A4-AC4C-BE8D-E932C2F104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99339" y="4647119"/>
            <a:ext cx="526490" cy="526490"/>
          </a:xfrm>
          <a:prstGeom prst="rect">
            <a:avLst/>
          </a:prstGeom>
        </p:spPr>
      </p:pic>
      <p:pic>
        <p:nvPicPr>
          <p:cNvPr id="18" name="Graphic 17" descr="Checkbox Checked with solid fill">
            <a:extLst>
              <a:ext uri="{FF2B5EF4-FFF2-40B4-BE49-F238E27FC236}">
                <a16:creationId xmlns:a16="http://schemas.microsoft.com/office/drawing/2014/main" id="{BB400533-6E85-1B49-9A56-419F92CAA0A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58454" y="4647119"/>
            <a:ext cx="526490" cy="526490"/>
          </a:xfrm>
          <a:prstGeom prst="rect">
            <a:avLst/>
          </a:prstGeom>
        </p:spPr>
      </p:pic>
      <p:pic>
        <p:nvPicPr>
          <p:cNvPr id="20" name="Graphic 19" descr="Checkbox Checked with solid fill">
            <a:extLst>
              <a:ext uri="{FF2B5EF4-FFF2-40B4-BE49-F238E27FC236}">
                <a16:creationId xmlns:a16="http://schemas.microsoft.com/office/drawing/2014/main" id="{6F64E47F-0253-C949-B617-26E5EC5E39A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18622" y="4122769"/>
            <a:ext cx="526490" cy="526490"/>
          </a:xfrm>
          <a:prstGeom prst="rect">
            <a:avLst/>
          </a:prstGeom>
        </p:spPr>
      </p:pic>
      <p:pic>
        <p:nvPicPr>
          <p:cNvPr id="22" name="Graphic 21" descr="Checkbox Checked with solid fill">
            <a:extLst>
              <a:ext uri="{FF2B5EF4-FFF2-40B4-BE49-F238E27FC236}">
                <a16:creationId xmlns:a16="http://schemas.microsoft.com/office/drawing/2014/main" id="{72AE5766-C00F-2F4C-8ED1-4712CB7C843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39326" y="4647119"/>
            <a:ext cx="526490" cy="526490"/>
          </a:xfrm>
          <a:prstGeom prst="rect">
            <a:avLst/>
          </a:prstGeom>
        </p:spPr>
      </p:pic>
      <p:pic>
        <p:nvPicPr>
          <p:cNvPr id="23" name="Graphic 22" descr="Checkbox Checked with solid fill">
            <a:extLst>
              <a:ext uri="{FF2B5EF4-FFF2-40B4-BE49-F238E27FC236}">
                <a16:creationId xmlns:a16="http://schemas.microsoft.com/office/drawing/2014/main" id="{047C7554-06FA-7D46-895F-61EBA6DA8F0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64643" y="2996939"/>
            <a:ext cx="526490" cy="526490"/>
          </a:xfrm>
          <a:prstGeom prst="rect">
            <a:avLst/>
          </a:prstGeom>
        </p:spPr>
      </p:pic>
      <p:pic>
        <p:nvPicPr>
          <p:cNvPr id="24" name="Graphic 23" descr="Checkbox Checked with solid fill">
            <a:extLst>
              <a:ext uri="{FF2B5EF4-FFF2-40B4-BE49-F238E27FC236}">
                <a16:creationId xmlns:a16="http://schemas.microsoft.com/office/drawing/2014/main" id="{80667DD6-72F5-8346-8B4B-D39A069BB8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89082" y="2418562"/>
            <a:ext cx="526490" cy="526490"/>
          </a:xfrm>
          <a:prstGeom prst="rect">
            <a:avLst/>
          </a:prstGeom>
        </p:spPr>
      </p:pic>
      <p:pic>
        <p:nvPicPr>
          <p:cNvPr id="25" name="Graphic 24" descr="Checkbox Checked with solid fill">
            <a:extLst>
              <a:ext uri="{FF2B5EF4-FFF2-40B4-BE49-F238E27FC236}">
                <a16:creationId xmlns:a16="http://schemas.microsoft.com/office/drawing/2014/main" id="{752B76E1-A167-684A-880C-F197CE5BB8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99339" y="2996939"/>
            <a:ext cx="526490" cy="526490"/>
          </a:xfrm>
          <a:prstGeom prst="rect">
            <a:avLst/>
          </a:prstGeom>
        </p:spPr>
      </p:pic>
      <p:pic>
        <p:nvPicPr>
          <p:cNvPr id="26" name="Graphic 25" descr="Checkbox Checked with solid fill">
            <a:extLst>
              <a:ext uri="{FF2B5EF4-FFF2-40B4-BE49-F238E27FC236}">
                <a16:creationId xmlns:a16="http://schemas.microsoft.com/office/drawing/2014/main" id="{AE20E71D-F1E2-6E4E-A825-C3148B0648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19166" y="3009123"/>
            <a:ext cx="526490" cy="526490"/>
          </a:xfrm>
          <a:prstGeom prst="rect">
            <a:avLst/>
          </a:prstGeom>
        </p:spPr>
      </p:pic>
      <p:pic>
        <p:nvPicPr>
          <p:cNvPr id="27" name="Graphic 26" descr="Checkbox Checked with solid fill">
            <a:extLst>
              <a:ext uri="{FF2B5EF4-FFF2-40B4-BE49-F238E27FC236}">
                <a16:creationId xmlns:a16="http://schemas.microsoft.com/office/drawing/2014/main" id="{F1A2692E-7050-CF46-ABB9-41F1F27C1B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49074" y="2996939"/>
            <a:ext cx="526490" cy="526490"/>
          </a:xfrm>
          <a:prstGeom prst="rect">
            <a:avLst/>
          </a:prstGeom>
        </p:spPr>
      </p:pic>
      <p:pic>
        <p:nvPicPr>
          <p:cNvPr id="28" name="Graphic 27" descr="Checkbox Checked with solid fill">
            <a:extLst>
              <a:ext uri="{FF2B5EF4-FFF2-40B4-BE49-F238E27FC236}">
                <a16:creationId xmlns:a16="http://schemas.microsoft.com/office/drawing/2014/main" id="{AD80A357-A722-C849-ABFE-D866C61A3E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207" y="2996939"/>
            <a:ext cx="526490" cy="526490"/>
          </a:xfrm>
          <a:prstGeom prst="rect">
            <a:avLst/>
          </a:prstGeom>
        </p:spPr>
      </p:pic>
    </p:spTree>
    <p:extLst>
      <p:ext uri="{BB962C8B-B14F-4D97-AF65-F5344CB8AC3E}">
        <p14:creationId xmlns:p14="http://schemas.microsoft.com/office/powerpoint/2010/main" val="3477579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1">
            <a:extLst>
              <a:ext uri="{FF2B5EF4-FFF2-40B4-BE49-F238E27FC236}">
                <a16:creationId xmlns:a16="http://schemas.microsoft.com/office/drawing/2014/main" id="{292C580D-3542-40CF-9898-F6B09D345FE2}"/>
              </a:ext>
            </a:extLst>
          </p:cNvPr>
          <p:cNvSpPr>
            <a:spLocks noGrp="1"/>
          </p:cNvSpPr>
          <p:nvPr>
            <p:ph type="sldNum" sz="quarter" idx="10"/>
          </p:nvPr>
        </p:nvSpPr>
        <p:spPr>
          <a:xfrm>
            <a:off x="1338978" y="5829212"/>
            <a:ext cx="342989" cy="137196"/>
          </a:xfrm>
        </p:spPr>
        <p:txBody>
          <a:bodyPr/>
          <a:lstStyle/>
          <a:p>
            <a:pPr>
              <a:spcAft>
                <a:spcPts val="450"/>
              </a:spcAft>
            </a:pPr>
            <a:fld id="{0B7C44DC-F45C-4D94-96EC-96DC3CAA6F18}" type="slidenum">
              <a:rPr lang="en-US" smtClean="0"/>
              <a:pPr>
                <a:spcAft>
                  <a:spcPts val="450"/>
                </a:spcAft>
              </a:pPr>
              <a:t>8</a:t>
            </a:fld>
            <a:endParaRPr lang="en-US"/>
          </a:p>
        </p:txBody>
      </p:sp>
      <p:sp>
        <p:nvSpPr>
          <p:cNvPr id="3" name="DCIM Technology Adoption…">
            <a:extLst>
              <a:ext uri="{FF2B5EF4-FFF2-40B4-BE49-F238E27FC236}">
                <a16:creationId xmlns:a16="http://schemas.microsoft.com/office/drawing/2014/main" id="{F0FD27DB-72DC-4140-B033-9C70F7EA1C7A}"/>
              </a:ext>
            </a:extLst>
          </p:cNvPr>
          <p:cNvSpPr txBox="1">
            <a:spLocks/>
          </p:cNvSpPr>
          <p:nvPr/>
        </p:nvSpPr>
        <p:spPr>
          <a:xfrm>
            <a:off x="457867" y="960517"/>
            <a:ext cx="8228267" cy="501923"/>
          </a:xfrm>
          <a:prstGeom prst="rect">
            <a:avLst/>
          </a:prstGeom>
          <a:extLst>
            <a:ext uri="{C572A759-6A51-4108-AA02-DFA0A04FC94B}">
              <ma14:wrappingTextBoxFlag xmlns:ma14="http://schemas.microsoft.com/office/mac/drawingml/2011/main" xmlns="" val="1"/>
            </a:ext>
          </a:extLst>
        </p:spPr>
        <p:txBody>
          <a:bodyPr vert="horz" lIns="0" tIns="0" rIns="0" bIns="0" rtlCol="0" anchor="t" anchorCtr="0">
            <a:normAutofit fontScale="92500" lnSpcReduction="10000"/>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9pPr>
          </a:lstStyle>
          <a:p>
            <a:pPr algn="l" defTabSz="685777" fontAlgn="ctr">
              <a:lnSpc>
                <a:spcPct val="94000"/>
              </a:lnSpc>
              <a:spcBef>
                <a:spcPct val="0"/>
              </a:spcBef>
              <a:spcAft>
                <a:spcPts val="450"/>
              </a:spcAft>
              <a:defRPr sz="4800"/>
            </a:pPr>
            <a:r>
              <a:rPr lang="en-US" sz="2101" dirty="0">
                <a:solidFill>
                  <a:schemeClr val="tx1"/>
                </a:solidFill>
                <a:latin typeface="+mj-lt"/>
                <a:ea typeface="+mj-ea"/>
                <a:cs typeface="+mj-cs"/>
              </a:rPr>
              <a:t>Integration Persona Capability Matrix</a:t>
            </a:r>
          </a:p>
          <a:p>
            <a:pPr algn="l" defTabSz="685777" fontAlgn="ctr">
              <a:lnSpc>
                <a:spcPct val="94000"/>
              </a:lnSpc>
              <a:spcBef>
                <a:spcPct val="0"/>
              </a:spcBef>
              <a:spcAft>
                <a:spcPts val="450"/>
              </a:spcAft>
            </a:pPr>
            <a:r>
              <a:rPr lang="en-US" sz="1500" dirty="0">
                <a:solidFill>
                  <a:schemeClr val="tx2">
                    <a:lumMod val="60000"/>
                    <a:lumOff val="40000"/>
                  </a:schemeClr>
                </a:solidFill>
                <a:latin typeface="+mj-lt"/>
                <a:ea typeface="+mj-ea"/>
                <a:cs typeface="+mj-cs"/>
              </a:rPr>
              <a:t>What business systems or product integrations can be done by whom?</a:t>
            </a:r>
          </a:p>
        </p:txBody>
      </p:sp>
      <p:graphicFrame>
        <p:nvGraphicFramePr>
          <p:cNvPr id="2" name="Table 3">
            <a:extLst>
              <a:ext uri="{FF2B5EF4-FFF2-40B4-BE49-F238E27FC236}">
                <a16:creationId xmlns:a16="http://schemas.microsoft.com/office/drawing/2014/main" id="{3FA1F753-AC86-2A47-85B1-DC2CE0A54FAF}"/>
              </a:ext>
            </a:extLst>
          </p:cNvPr>
          <p:cNvGraphicFramePr>
            <a:graphicFrameLocks noGrp="1"/>
          </p:cNvGraphicFramePr>
          <p:nvPr/>
        </p:nvGraphicFramePr>
        <p:xfrm>
          <a:off x="457866" y="1817161"/>
          <a:ext cx="8228269" cy="3854604"/>
        </p:xfrm>
        <a:graphic>
          <a:graphicData uri="http://schemas.openxmlformats.org/drawingml/2006/table">
            <a:tbl>
              <a:tblPr firstRow="1" bandRow="1">
                <a:tableStyleId>{5C22544A-7EE6-4342-B048-85BDC9FD1C3A}</a:tableStyleId>
              </a:tblPr>
              <a:tblGrid>
                <a:gridCol w="1175467">
                  <a:extLst>
                    <a:ext uri="{9D8B030D-6E8A-4147-A177-3AD203B41FA5}">
                      <a16:colId xmlns:a16="http://schemas.microsoft.com/office/drawing/2014/main" val="305992388"/>
                    </a:ext>
                  </a:extLst>
                </a:gridCol>
                <a:gridCol w="1175467">
                  <a:extLst>
                    <a:ext uri="{9D8B030D-6E8A-4147-A177-3AD203B41FA5}">
                      <a16:colId xmlns:a16="http://schemas.microsoft.com/office/drawing/2014/main" val="1845614551"/>
                    </a:ext>
                  </a:extLst>
                </a:gridCol>
                <a:gridCol w="1175467">
                  <a:extLst>
                    <a:ext uri="{9D8B030D-6E8A-4147-A177-3AD203B41FA5}">
                      <a16:colId xmlns:a16="http://schemas.microsoft.com/office/drawing/2014/main" val="3472627198"/>
                    </a:ext>
                  </a:extLst>
                </a:gridCol>
                <a:gridCol w="1175467">
                  <a:extLst>
                    <a:ext uri="{9D8B030D-6E8A-4147-A177-3AD203B41FA5}">
                      <a16:colId xmlns:a16="http://schemas.microsoft.com/office/drawing/2014/main" val="2027036631"/>
                    </a:ext>
                  </a:extLst>
                </a:gridCol>
                <a:gridCol w="1175467">
                  <a:extLst>
                    <a:ext uri="{9D8B030D-6E8A-4147-A177-3AD203B41FA5}">
                      <a16:colId xmlns:a16="http://schemas.microsoft.com/office/drawing/2014/main" val="2051345219"/>
                    </a:ext>
                  </a:extLst>
                </a:gridCol>
                <a:gridCol w="1175467">
                  <a:extLst>
                    <a:ext uri="{9D8B030D-6E8A-4147-A177-3AD203B41FA5}">
                      <a16:colId xmlns:a16="http://schemas.microsoft.com/office/drawing/2014/main" val="3526684581"/>
                    </a:ext>
                  </a:extLst>
                </a:gridCol>
                <a:gridCol w="1175467">
                  <a:extLst>
                    <a:ext uri="{9D8B030D-6E8A-4147-A177-3AD203B41FA5}">
                      <a16:colId xmlns:a16="http://schemas.microsoft.com/office/drawing/2014/main" val="2375212440"/>
                    </a:ext>
                  </a:extLst>
                </a:gridCol>
              </a:tblGrid>
              <a:tr h="685979">
                <a:tc>
                  <a:txBody>
                    <a:bodyPr/>
                    <a:lstStyle/>
                    <a:p>
                      <a:endParaRPr lang="en-US" sz="1400" dirty="0"/>
                    </a:p>
                  </a:txBody>
                  <a:tcPr marL="68598" marR="68598" marT="34299" marB="34299"/>
                </a:tc>
                <a:tc>
                  <a:txBody>
                    <a:bodyPr/>
                    <a:lstStyle/>
                    <a:p>
                      <a:r>
                        <a:rPr lang="en-US" sz="1400" dirty="0"/>
                        <a:t>Specialist</a:t>
                      </a:r>
                    </a:p>
                    <a:p>
                      <a:r>
                        <a:rPr lang="en-US" sz="1400" dirty="0"/>
                        <a:t>(ESB)</a:t>
                      </a:r>
                    </a:p>
                  </a:txBody>
                  <a:tcPr marL="68598" marR="68598" marT="34299" marB="34299">
                    <a:solidFill>
                      <a:schemeClr val="tx2">
                        <a:lumMod val="75000"/>
                        <a:lumOff val="25000"/>
                      </a:schemeClr>
                    </a:solidFill>
                  </a:tcPr>
                </a:tc>
                <a:tc>
                  <a:txBody>
                    <a:bodyPr/>
                    <a:lstStyle/>
                    <a:p>
                      <a:r>
                        <a:rPr lang="en-US" sz="1400" dirty="0"/>
                        <a:t>Specialist</a:t>
                      </a:r>
                    </a:p>
                    <a:p>
                      <a:r>
                        <a:rPr lang="en-US" sz="1400" dirty="0"/>
                        <a:t>(ETL)</a:t>
                      </a:r>
                    </a:p>
                  </a:txBody>
                  <a:tcPr marL="68598" marR="68598" marT="34299" marB="34299">
                    <a:solidFill>
                      <a:schemeClr val="tx2">
                        <a:lumMod val="75000"/>
                        <a:lumOff val="25000"/>
                      </a:schemeClr>
                    </a:solidFill>
                  </a:tcPr>
                </a:tc>
                <a:tc>
                  <a:txBody>
                    <a:bodyPr/>
                    <a:lstStyle/>
                    <a:p>
                      <a:r>
                        <a:rPr lang="en-US" sz="1400" dirty="0"/>
                        <a:t>Ad Hoc</a:t>
                      </a:r>
                    </a:p>
                    <a:p>
                      <a:r>
                        <a:rPr lang="en-US" sz="1400" dirty="0"/>
                        <a:t>(App Dev)</a:t>
                      </a:r>
                    </a:p>
                  </a:txBody>
                  <a:tcPr marL="68598" marR="68598" marT="34299" marB="34299">
                    <a:solidFill>
                      <a:schemeClr val="tx2">
                        <a:lumMod val="75000"/>
                        <a:lumOff val="25000"/>
                      </a:schemeClr>
                    </a:solidFill>
                  </a:tcPr>
                </a:tc>
                <a:tc>
                  <a:txBody>
                    <a:bodyPr/>
                    <a:lstStyle/>
                    <a:p>
                      <a:r>
                        <a:rPr lang="en-US" sz="1400" dirty="0"/>
                        <a:t>Ad Hoc</a:t>
                      </a:r>
                    </a:p>
                    <a:p>
                      <a:r>
                        <a:rPr lang="en-US" sz="1400" dirty="0"/>
                        <a:t>(DBA)</a:t>
                      </a:r>
                    </a:p>
                  </a:txBody>
                  <a:tcPr marL="68598" marR="68598" marT="34299" marB="34299">
                    <a:solidFill>
                      <a:schemeClr val="tx2">
                        <a:lumMod val="75000"/>
                        <a:lumOff val="25000"/>
                      </a:schemeClr>
                    </a:solidFill>
                  </a:tcPr>
                </a:tc>
                <a:tc>
                  <a:txBody>
                    <a:bodyPr/>
                    <a:lstStyle/>
                    <a:p>
                      <a:r>
                        <a:rPr lang="en-US" sz="1400" dirty="0"/>
                        <a:t>Ad Hoc</a:t>
                      </a:r>
                    </a:p>
                    <a:p>
                      <a:r>
                        <a:rPr lang="en-US" sz="1400" dirty="0"/>
                        <a:t>(SaaS Admin)</a:t>
                      </a:r>
                    </a:p>
                  </a:txBody>
                  <a:tcPr marL="68598" marR="68598" marT="34299" marB="34299">
                    <a:solidFill>
                      <a:schemeClr val="tx2">
                        <a:lumMod val="75000"/>
                        <a:lumOff val="25000"/>
                      </a:schemeClr>
                    </a:solidFill>
                  </a:tcPr>
                </a:tc>
                <a:tc>
                  <a:txBody>
                    <a:bodyPr/>
                    <a:lstStyle/>
                    <a:p>
                      <a:r>
                        <a:rPr lang="en-US" sz="1400" dirty="0"/>
                        <a:t>Citizen</a:t>
                      </a:r>
                    </a:p>
                    <a:p>
                      <a:r>
                        <a:rPr lang="en-US" sz="1400" dirty="0"/>
                        <a:t>(Bus Analyst)</a:t>
                      </a:r>
                    </a:p>
                  </a:txBody>
                  <a:tcPr marL="68598" marR="68598" marT="34299" marB="34299">
                    <a:solidFill>
                      <a:schemeClr val="tx2">
                        <a:lumMod val="75000"/>
                        <a:lumOff val="25000"/>
                      </a:schemeClr>
                    </a:solidFill>
                  </a:tcPr>
                </a:tc>
                <a:extLst>
                  <a:ext uri="{0D108BD9-81ED-4DB2-BD59-A6C34878D82A}">
                    <a16:rowId xmlns:a16="http://schemas.microsoft.com/office/drawing/2014/main" val="507531263"/>
                  </a:ext>
                </a:extLst>
              </a:tr>
              <a:tr h="609312">
                <a:tc>
                  <a:txBody>
                    <a:bodyPr/>
                    <a:lstStyle/>
                    <a:p>
                      <a:r>
                        <a:rPr lang="en-US" sz="1400" b="1" dirty="0"/>
                        <a:t>Legacy Integration</a:t>
                      </a:r>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extLst>
                  <a:ext uri="{0D108BD9-81ED-4DB2-BD59-A6C34878D82A}">
                    <a16:rowId xmlns:a16="http://schemas.microsoft.com/office/drawing/2014/main" val="3661976614"/>
                  </a:ext>
                </a:extLst>
              </a:tr>
              <a:tr h="609312">
                <a:tc>
                  <a:txBody>
                    <a:bodyPr/>
                    <a:lstStyle/>
                    <a:p>
                      <a:r>
                        <a:rPr lang="en-US" sz="1400" b="1" dirty="0"/>
                        <a:t>Agile Integration</a:t>
                      </a:r>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extLst>
                  <a:ext uri="{0D108BD9-81ED-4DB2-BD59-A6C34878D82A}">
                    <a16:rowId xmlns:a16="http://schemas.microsoft.com/office/drawing/2014/main" val="2424489655"/>
                  </a:ext>
                </a:extLst>
              </a:tr>
              <a:tr h="685979">
                <a:tc>
                  <a:txBody>
                    <a:bodyPr/>
                    <a:lstStyle/>
                    <a:p>
                      <a:r>
                        <a:rPr lang="en-US" sz="1400" b="1" dirty="0"/>
                        <a:t>Data Synchronization</a:t>
                      </a:r>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a:p>
                  </a:txBody>
                  <a:tcPr marL="68598" marR="68598" marT="34299" marB="34299"/>
                </a:tc>
                <a:extLst>
                  <a:ext uri="{0D108BD9-81ED-4DB2-BD59-A6C34878D82A}">
                    <a16:rowId xmlns:a16="http://schemas.microsoft.com/office/drawing/2014/main" val="2709282969"/>
                  </a:ext>
                </a:extLst>
              </a:tr>
              <a:tr h="609312">
                <a:tc>
                  <a:txBody>
                    <a:bodyPr/>
                    <a:lstStyle/>
                    <a:p>
                      <a:r>
                        <a:rPr lang="en-US" sz="1400" b="1" dirty="0"/>
                        <a:t>Streaming Integration</a:t>
                      </a:r>
                    </a:p>
                  </a:txBody>
                  <a:tcPr marL="68598" marR="68598" marT="34299" marB="34299"/>
                </a:tc>
                <a:tc>
                  <a:txBody>
                    <a:bodyPr/>
                    <a:lstStyle/>
                    <a:p>
                      <a:pPr algn="ctr"/>
                      <a:endParaRPr lang="en-US" sz="1400"/>
                    </a:p>
                  </a:txBody>
                  <a:tcPr marL="68598" marR="68598" marT="34299" marB="34299"/>
                </a:tc>
                <a:tc>
                  <a:txBody>
                    <a:bodyPr/>
                    <a:lstStyle/>
                    <a:p>
                      <a:pPr algn="ctr"/>
                      <a:endParaRPr lang="en-US" sz="140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extLst>
                  <a:ext uri="{0D108BD9-81ED-4DB2-BD59-A6C34878D82A}">
                    <a16:rowId xmlns:a16="http://schemas.microsoft.com/office/drawing/2014/main" val="1752746640"/>
                  </a:ext>
                </a:extLst>
              </a:tr>
              <a:tr h="609312">
                <a:tc>
                  <a:txBody>
                    <a:bodyPr/>
                    <a:lstStyle/>
                    <a:p>
                      <a:r>
                        <a:rPr lang="en-US" sz="1400" b="1" dirty="0"/>
                        <a:t>Publish &amp; Subscribe</a:t>
                      </a:r>
                    </a:p>
                  </a:txBody>
                  <a:tcPr marL="68598" marR="68598" marT="34299" marB="34299"/>
                </a:tc>
                <a:tc>
                  <a:txBody>
                    <a:bodyPr/>
                    <a:lstStyle/>
                    <a:p>
                      <a:pPr algn="ctr"/>
                      <a:endParaRPr lang="en-US" sz="140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tc>
                  <a:txBody>
                    <a:bodyPr/>
                    <a:lstStyle/>
                    <a:p>
                      <a:pPr algn="ctr"/>
                      <a:endParaRPr lang="en-US" sz="1400" dirty="0"/>
                    </a:p>
                  </a:txBody>
                  <a:tcPr marL="68598" marR="68598" marT="34299" marB="34299"/>
                </a:tc>
                <a:extLst>
                  <a:ext uri="{0D108BD9-81ED-4DB2-BD59-A6C34878D82A}">
                    <a16:rowId xmlns:a16="http://schemas.microsoft.com/office/drawing/2014/main" val="560712839"/>
                  </a:ext>
                </a:extLst>
              </a:tr>
            </a:tbl>
          </a:graphicData>
        </a:graphic>
      </p:graphicFrame>
      <p:sp>
        <p:nvSpPr>
          <p:cNvPr id="4" name="Rounded Rectangle 3">
            <a:extLst>
              <a:ext uri="{FF2B5EF4-FFF2-40B4-BE49-F238E27FC236}">
                <a16:creationId xmlns:a16="http://schemas.microsoft.com/office/drawing/2014/main" id="{14890C9F-6899-484F-88E9-17938394B6C4}"/>
              </a:ext>
            </a:extLst>
          </p:cNvPr>
          <p:cNvSpPr/>
          <p:nvPr/>
        </p:nvSpPr>
        <p:spPr>
          <a:xfrm>
            <a:off x="1774667" y="2534447"/>
            <a:ext cx="922898" cy="389339"/>
          </a:xfrm>
          <a:prstGeom prst="roundRect">
            <a:avLst/>
          </a:prstGeom>
          <a:solidFill>
            <a:schemeClr val="accent4"/>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SFDC</a:t>
            </a:r>
          </a:p>
        </p:txBody>
      </p:sp>
      <p:sp>
        <p:nvSpPr>
          <p:cNvPr id="29" name="Rounded Rectangle 28">
            <a:extLst>
              <a:ext uri="{FF2B5EF4-FFF2-40B4-BE49-F238E27FC236}">
                <a16:creationId xmlns:a16="http://schemas.microsoft.com/office/drawing/2014/main" id="{EA348BAD-D4DD-9A46-B533-96AAD59F8466}"/>
              </a:ext>
            </a:extLst>
          </p:cNvPr>
          <p:cNvSpPr/>
          <p:nvPr/>
        </p:nvSpPr>
        <p:spPr>
          <a:xfrm>
            <a:off x="2945774" y="3751905"/>
            <a:ext cx="922898" cy="389339"/>
          </a:xfrm>
          <a:prstGeom prst="roundRect">
            <a:avLst/>
          </a:prstGeom>
          <a:solidFill>
            <a:schemeClr val="accent4"/>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SFDC</a:t>
            </a:r>
          </a:p>
        </p:txBody>
      </p:sp>
      <p:sp>
        <p:nvSpPr>
          <p:cNvPr id="30" name="Rounded Rectangle 29">
            <a:extLst>
              <a:ext uri="{FF2B5EF4-FFF2-40B4-BE49-F238E27FC236}">
                <a16:creationId xmlns:a16="http://schemas.microsoft.com/office/drawing/2014/main" id="{385D3447-367A-044F-AE83-34078290EEA3}"/>
              </a:ext>
            </a:extLst>
          </p:cNvPr>
          <p:cNvSpPr/>
          <p:nvPr/>
        </p:nvSpPr>
        <p:spPr>
          <a:xfrm>
            <a:off x="4110550" y="3143176"/>
            <a:ext cx="922898" cy="389339"/>
          </a:xfrm>
          <a:prstGeom prst="roundRect">
            <a:avLst/>
          </a:prstGeom>
          <a:solidFill>
            <a:schemeClr val="accent4"/>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SFDC</a:t>
            </a:r>
          </a:p>
        </p:txBody>
      </p:sp>
      <p:sp>
        <p:nvSpPr>
          <p:cNvPr id="31" name="Rounded Rectangle 30">
            <a:extLst>
              <a:ext uri="{FF2B5EF4-FFF2-40B4-BE49-F238E27FC236}">
                <a16:creationId xmlns:a16="http://schemas.microsoft.com/office/drawing/2014/main" id="{EAD34EBA-A4DF-2149-AB26-709FD91EF945}"/>
              </a:ext>
            </a:extLst>
          </p:cNvPr>
          <p:cNvSpPr/>
          <p:nvPr/>
        </p:nvSpPr>
        <p:spPr>
          <a:xfrm>
            <a:off x="7630205" y="3143176"/>
            <a:ext cx="922898" cy="389339"/>
          </a:xfrm>
          <a:prstGeom prst="roundRect">
            <a:avLst/>
          </a:prstGeom>
          <a:solidFill>
            <a:schemeClr val="accent4"/>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SFDC</a:t>
            </a:r>
          </a:p>
        </p:txBody>
      </p:sp>
      <p:sp>
        <p:nvSpPr>
          <p:cNvPr id="32" name="Rounded Rectangle 31">
            <a:extLst>
              <a:ext uri="{FF2B5EF4-FFF2-40B4-BE49-F238E27FC236}">
                <a16:creationId xmlns:a16="http://schemas.microsoft.com/office/drawing/2014/main" id="{DA3AC41D-34FC-7143-8FCE-780FA3C1D690}"/>
              </a:ext>
            </a:extLst>
          </p:cNvPr>
          <p:cNvSpPr/>
          <p:nvPr/>
        </p:nvSpPr>
        <p:spPr>
          <a:xfrm>
            <a:off x="2945774" y="4301295"/>
            <a:ext cx="922898" cy="389339"/>
          </a:xfrm>
          <a:prstGeom prst="roundRect">
            <a:avLst/>
          </a:prstGeom>
          <a:solidFill>
            <a:schemeClr val="accent6"/>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Svc Now</a:t>
            </a:r>
          </a:p>
        </p:txBody>
      </p:sp>
      <p:sp>
        <p:nvSpPr>
          <p:cNvPr id="34" name="Rounded Rectangle 33">
            <a:extLst>
              <a:ext uri="{FF2B5EF4-FFF2-40B4-BE49-F238E27FC236}">
                <a16:creationId xmlns:a16="http://schemas.microsoft.com/office/drawing/2014/main" id="{C895A894-19C8-3040-9336-9A606A535231}"/>
              </a:ext>
            </a:extLst>
          </p:cNvPr>
          <p:cNvSpPr/>
          <p:nvPr/>
        </p:nvSpPr>
        <p:spPr>
          <a:xfrm>
            <a:off x="6489997" y="3143176"/>
            <a:ext cx="922898" cy="389339"/>
          </a:xfrm>
          <a:prstGeom prst="roundRect">
            <a:avLst/>
          </a:prstGeom>
          <a:solidFill>
            <a:schemeClr val="accent6"/>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Svc Now</a:t>
            </a:r>
          </a:p>
        </p:txBody>
      </p:sp>
      <p:sp>
        <p:nvSpPr>
          <p:cNvPr id="35" name="Rounded Rectangle 34">
            <a:extLst>
              <a:ext uri="{FF2B5EF4-FFF2-40B4-BE49-F238E27FC236}">
                <a16:creationId xmlns:a16="http://schemas.microsoft.com/office/drawing/2014/main" id="{13C723FC-2C76-4B41-88E6-5E4A67B5A38C}"/>
              </a:ext>
            </a:extLst>
          </p:cNvPr>
          <p:cNvSpPr/>
          <p:nvPr/>
        </p:nvSpPr>
        <p:spPr>
          <a:xfrm>
            <a:off x="5302248" y="3143176"/>
            <a:ext cx="922898" cy="389339"/>
          </a:xfrm>
          <a:prstGeom prst="roundRect">
            <a:avLst/>
          </a:prstGeom>
          <a:solidFill>
            <a:schemeClr val="accent3"/>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Oracle</a:t>
            </a:r>
          </a:p>
        </p:txBody>
      </p:sp>
      <p:sp>
        <p:nvSpPr>
          <p:cNvPr id="36" name="Rounded Rectangle 35">
            <a:extLst>
              <a:ext uri="{FF2B5EF4-FFF2-40B4-BE49-F238E27FC236}">
                <a16:creationId xmlns:a16="http://schemas.microsoft.com/office/drawing/2014/main" id="{AB662DDB-BF15-544F-A9B0-9F5D1DF052A3}"/>
              </a:ext>
            </a:extLst>
          </p:cNvPr>
          <p:cNvSpPr/>
          <p:nvPr/>
        </p:nvSpPr>
        <p:spPr>
          <a:xfrm>
            <a:off x="6489997" y="4950823"/>
            <a:ext cx="922898" cy="389339"/>
          </a:xfrm>
          <a:prstGeom prst="roundRect">
            <a:avLst/>
          </a:prstGeom>
          <a:solidFill>
            <a:schemeClr val="accent4"/>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SFDC</a:t>
            </a:r>
          </a:p>
        </p:txBody>
      </p:sp>
      <p:sp>
        <p:nvSpPr>
          <p:cNvPr id="37" name="Rounded Rectangle 36">
            <a:extLst>
              <a:ext uri="{FF2B5EF4-FFF2-40B4-BE49-F238E27FC236}">
                <a16:creationId xmlns:a16="http://schemas.microsoft.com/office/drawing/2014/main" id="{99A8171B-76D5-C344-872B-4E0FAE14E2F8}"/>
              </a:ext>
            </a:extLst>
          </p:cNvPr>
          <p:cNvSpPr/>
          <p:nvPr/>
        </p:nvSpPr>
        <p:spPr>
          <a:xfrm>
            <a:off x="4110550" y="3751905"/>
            <a:ext cx="922898" cy="389339"/>
          </a:xfrm>
          <a:prstGeom prst="roundRect">
            <a:avLst/>
          </a:prstGeom>
          <a:solidFill>
            <a:schemeClr val="accent3"/>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Oracle</a:t>
            </a:r>
          </a:p>
        </p:txBody>
      </p:sp>
      <p:sp>
        <p:nvSpPr>
          <p:cNvPr id="38" name="Rounded Rectangle 37">
            <a:extLst>
              <a:ext uri="{FF2B5EF4-FFF2-40B4-BE49-F238E27FC236}">
                <a16:creationId xmlns:a16="http://schemas.microsoft.com/office/drawing/2014/main" id="{23775542-D70A-B44B-9819-C7EDF76998B1}"/>
              </a:ext>
            </a:extLst>
          </p:cNvPr>
          <p:cNvSpPr/>
          <p:nvPr/>
        </p:nvSpPr>
        <p:spPr>
          <a:xfrm>
            <a:off x="1774667" y="4301295"/>
            <a:ext cx="922898" cy="389339"/>
          </a:xfrm>
          <a:prstGeom prst="roundRect">
            <a:avLst/>
          </a:prstGeom>
          <a:solidFill>
            <a:schemeClr val="accent3"/>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Oracle</a:t>
            </a:r>
          </a:p>
        </p:txBody>
      </p:sp>
      <p:sp>
        <p:nvSpPr>
          <p:cNvPr id="39" name="Rounded Rectangle 38">
            <a:extLst>
              <a:ext uri="{FF2B5EF4-FFF2-40B4-BE49-F238E27FC236}">
                <a16:creationId xmlns:a16="http://schemas.microsoft.com/office/drawing/2014/main" id="{CB18C969-2469-9F4E-8A5B-95D78FDD781C}"/>
              </a:ext>
            </a:extLst>
          </p:cNvPr>
          <p:cNvSpPr/>
          <p:nvPr/>
        </p:nvSpPr>
        <p:spPr>
          <a:xfrm>
            <a:off x="5302248" y="3751905"/>
            <a:ext cx="922898" cy="389339"/>
          </a:xfrm>
          <a:prstGeom prst="roundRect">
            <a:avLst/>
          </a:prstGeom>
          <a:solidFill>
            <a:schemeClr val="accent3"/>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Oracle</a:t>
            </a:r>
          </a:p>
        </p:txBody>
      </p:sp>
      <p:sp>
        <p:nvSpPr>
          <p:cNvPr id="40" name="Rounded Rectangle 39">
            <a:extLst>
              <a:ext uri="{FF2B5EF4-FFF2-40B4-BE49-F238E27FC236}">
                <a16:creationId xmlns:a16="http://schemas.microsoft.com/office/drawing/2014/main" id="{04384EB2-1A4A-1E40-8A9B-E9314C456D90}"/>
              </a:ext>
            </a:extLst>
          </p:cNvPr>
          <p:cNvSpPr/>
          <p:nvPr/>
        </p:nvSpPr>
        <p:spPr>
          <a:xfrm>
            <a:off x="2970343" y="3143176"/>
            <a:ext cx="922898" cy="389339"/>
          </a:xfrm>
          <a:prstGeom prst="roundRect">
            <a:avLst/>
          </a:prstGeom>
          <a:solidFill>
            <a:schemeClr val="accent6"/>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Svc Now</a:t>
            </a:r>
          </a:p>
        </p:txBody>
      </p:sp>
      <p:sp>
        <p:nvSpPr>
          <p:cNvPr id="41" name="Rounded Rectangle 40">
            <a:extLst>
              <a:ext uri="{FF2B5EF4-FFF2-40B4-BE49-F238E27FC236}">
                <a16:creationId xmlns:a16="http://schemas.microsoft.com/office/drawing/2014/main" id="{4FDDC477-88E7-CE44-96F8-B53CD3F1E5E6}"/>
              </a:ext>
            </a:extLst>
          </p:cNvPr>
          <p:cNvSpPr/>
          <p:nvPr/>
        </p:nvSpPr>
        <p:spPr>
          <a:xfrm>
            <a:off x="6446436" y="4301295"/>
            <a:ext cx="922898" cy="389339"/>
          </a:xfrm>
          <a:prstGeom prst="roundRect">
            <a:avLst/>
          </a:prstGeom>
          <a:solidFill>
            <a:schemeClr val="accent6"/>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Svc Now</a:t>
            </a:r>
          </a:p>
        </p:txBody>
      </p:sp>
      <p:sp>
        <p:nvSpPr>
          <p:cNvPr id="43" name="Rounded Rectangle 42">
            <a:extLst>
              <a:ext uri="{FF2B5EF4-FFF2-40B4-BE49-F238E27FC236}">
                <a16:creationId xmlns:a16="http://schemas.microsoft.com/office/drawing/2014/main" id="{E0EE21CA-5322-894C-8CE0-D69BC5B6C853}"/>
              </a:ext>
            </a:extLst>
          </p:cNvPr>
          <p:cNvSpPr/>
          <p:nvPr/>
        </p:nvSpPr>
        <p:spPr>
          <a:xfrm>
            <a:off x="2945774" y="2534447"/>
            <a:ext cx="922898" cy="389339"/>
          </a:xfrm>
          <a:prstGeom prst="roundRect">
            <a:avLst/>
          </a:prstGeom>
          <a:solidFill>
            <a:schemeClr val="accent3"/>
          </a:solidFill>
          <a:ln>
            <a:noFill/>
          </a:ln>
        </p:spPr>
        <p:style>
          <a:lnRef idx="2">
            <a:schemeClr val="accent1">
              <a:shade val="50000"/>
            </a:schemeClr>
          </a:lnRef>
          <a:fillRef idx="1">
            <a:schemeClr val="accent3"/>
          </a:fillRef>
          <a:effectRef idx="0">
            <a:schemeClr val="accent3"/>
          </a:effectRef>
          <a:fontRef idx="minor">
            <a:schemeClr val="lt1"/>
          </a:fontRef>
        </p:style>
        <p:txBody>
          <a:bodyPr rtlCol="0" anchor="ctr"/>
          <a:lstStyle/>
          <a:p>
            <a:pPr algn="ctr"/>
            <a:r>
              <a:rPr lang="en-US" dirty="0"/>
              <a:t>Oracle</a:t>
            </a:r>
          </a:p>
        </p:txBody>
      </p:sp>
    </p:spTree>
    <p:extLst>
      <p:ext uri="{BB962C8B-B14F-4D97-AF65-F5344CB8AC3E}">
        <p14:creationId xmlns:p14="http://schemas.microsoft.com/office/powerpoint/2010/main" val="3887391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
            <a:extLst>
              <a:ext uri="{FF2B5EF4-FFF2-40B4-BE49-F238E27FC236}">
                <a16:creationId xmlns:a16="http://schemas.microsoft.com/office/drawing/2014/main" id="{CB76D04D-72B8-4CDE-8555-54ABB58DADBB}"/>
              </a:ext>
            </a:extLst>
          </p:cNvPr>
          <p:cNvSpPr>
            <a:spLocks noGrp="1"/>
          </p:cNvSpPr>
          <p:nvPr>
            <p:ph sz="quarter" idx="19"/>
          </p:nvPr>
        </p:nvSpPr>
        <p:spPr>
          <a:xfrm>
            <a:off x="459701" y="2659656"/>
            <a:ext cx="2641202" cy="2986865"/>
          </a:xfrm>
        </p:spPr>
        <p:txBody>
          <a:bodyPr/>
          <a:lstStyle/>
          <a:p>
            <a:endParaRPr lang="en-US"/>
          </a:p>
        </p:txBody>
      </p:sp>
      <p:sp>
        <p:nvSpPr>
          <p:cNvPr id="9" name="Slide Number Placeholder 1">
            <a:extLst>
              <a:ext uri="{FF2B5EF4-FFF2-40B4-BE49-F238E27FC236}">
                <a16:creationId xmlns:a16="http://schemas.microsoft.com/office/drawing/2014/main" id="{292C580D-3542-40CF-9898-F6B09D345FE2}"/>
              </a:ext>
            </a:extLst>
          </p:cNvPr>
          <p:cNvSpPr>
            <a:spLocks noGrp="1"/>
          </p:cNvSpPr>
          <p:nvPr>
            <p:ph type="sldNum" sz="quarter" idx="10"/>
          </p:nvPr>
        </p:nvSpPr>
        <p:spPr>
          <a:xfrm>
            <a:off x="1338978" y="5829212"/>
            <a:ext cx="342989" cy="137196"/>
          </a:xfrm>
        </p:spPr>
        <p:txBody>
          <a:bodyPr vert="horz" lIns="0" tIns="0" rIns="0" bIns="0" rtlCol="0" anchor="t" anchorCtr="0">
            <a:normAutofit fontScale="77500" lnSpcReduction="20000"/>
          </a:bodyPr>
          <a:lstStyle/>
          <a:p>
            <a:pPr>
              <a:spcAft>
                <a:spcPts val="450"/>
              </a:spcAft>
            </a:pPr>
            <a:fld id="{0B7C44DC-F45C-4D94-96EC-96DC3CAA6F18}" type="slidenum">
              <a:rPr lang="en-US" smtClean="0"/>
              <a:pPr>
                <a:spcAft>
                  <a:spcPts val="450"/>
                </a:spcAft>
              </a:pPr>
              <a:t>9</a:t>
            </a:fld>
            <a:endParaRPr lang="en-US"/>
          </a:p>
        </p:txBody>
      </p:sp>
      <p:pic>
        <p:nvPicPr>
          <p:cNvPr id="5" name="Picture 4">
            <a:extLst>
              <a:ext uri="{FF2B5EF4-FFF2-40B4-BE49-F238E27FC236}">
                <a16:creationId xmlns:a16="http://schemas.microsoft.com/office/drawing/2014/main" id="{25817395-CAF8-4345-BBBA-BCBBC4B02494}"/>
              </a:ext>
            </a:extLst>
          </p:cNvPr>
          <p:cNvPicPr>
            <a:picLocks noChangeAspect="1"/>
          </p:cNvPicPr>
          <p:nvPr/>
        </p:nvPicPr>
        <p:blipFill>
          <a:blip r:embed="rId3"/>
          <a:stretch>
            <a:fillRect/>
          </a:stretch>
        </p:blipFill>
        <p:spPr>
          <a:xfrm>
            <a:off x="3197662" y="1043032"/>
            <a:ext cx="5946339" cy="4771936"/>
          </a:xfrm>
          <a:prstGeom prst="rect">
            <a:avLst/>
          </a:prstGeom>
          <a:noFill/>
        </p:spPr>
      </p:pic>
      <p:sp>
        <p:nvSpPr>
          <p:cNvPr id="3" name="DCIM Technology Adoption…">
            <a:extLst>
              <a:ext uri="{FF2B5EF4-FFF2-40B4-BE49-F238E27FC236}">
                <a16:creationId xmlns:a16="http://schemas.microsoft.com/office/drawing/2014/main" id="{F0FD27DB-72DC-4140-B033-9C70F7EA1C7A}"/>
              </a:ext>
            </a:extLst>
          </p:cNvPr>
          <p:cNvSpPr txBox="1">
            <a:spLocks/>
          </p:cNvSpPr>
          <p:nvPr/>
        </p:nvSpPr>
        <p:spPr>
          <a:xfrm>
            <a:off x="459606" y="1256526"/>
            <a:ext cx="2641295" cy="342989"/>
          </a:xfrm>
          <a:prstGeom prst="rect">
            <a:avLst/>
          </a:prstGeom>
          <a:extLst>
            <a:ext uri="{C572A759-6A51-4108-AA02-DFA0A04FC94B}">
              <ma14:wrappingTextBoxFlag xmlns="" xmlns:ma14="http://schemas.microsoft.com/office/mac/drawingml/2011/main" val="1"/>
            </a:ext>
          </a:extLst>
        </p:spPr>
        <p:txBody>
          <a:bodyPr vert="horz" lIns="0" tIns="0" rIns="0" bIns="0" rtlCol="0" anchor="t" anchorCtr="0">
            <a:normAutofit lnSpcReduction="10000"/>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000000"/>
                </a:solidFill>
                <a:uFillTx/>
                <a:latin typeface="+mn-lt"/>
                <a:ea typeface="+mn-ea"/>
                <a:cs typeface="+mn-cs"/>
                <a:sym typeface="Helvetica Neue Medium"/>
              </a:defRPr>
            </a:lvl9pPr>
          </a:lstStyle>
          <a:p>
            <a:pPr algn="l" defTabSz="685777" fontAlgn="ctr">
              <a:lnSpc>
                <a:spcPct val="94000"/>
              </a:lnSpc>
              <a:spcBef>
                <a:spcPct val="0"/>
              </a:spcBef>
              <a:spcAft>
                <a:spcPts val="450"/>
              </a:spcAft>
              <a:defRPr sz="4800"/>
            </a:pPr>
            <a:r>
              <a:rPr lang="en-US" sz="975" dirty="0">
                <a:solidFill>
                  <a:schemeClr val="tx1"/>
                </a:solidFill>
                <a:latin typeface="+mj-lt"/>
                <a:ea typeface="+mj-ea"/>
                <a:cs typeface="+mj-cs"/>
              </a:rPr>
              <a:t>API Management Technical Capability</a:t>
            </a:r>
          </a:p>
          <a:p>
            <a:pPr algn="l" defTabSz="685777" fontAlgn="ctr">
              <a:lnSpc>
                <a:spcPct val="94000"/>
              </a:lnSpc>
              <a:spcBef>
                <a:spcPct val="0"/>
              </a:spcBef>
              <a:spcAft>
                <a:spcPts val="450"/>
              </a:spcAft>
            </a:pPr>
            <a:r>
              <a:rPr lang="en-US" sz="975" dirty="0">
                <a:solidFill>
                  <a:schemeClr val="tx1"/>
                </a:solidFill>
                <a:latin typeface="+mj-lt"/>
                <a:ea typeface="+mj-ea"/>
                <a:cs typeface="+mj-cs"/>
              </a:rPr>
              <a:t>Platform as a Service </a:t>
            </a:r>
          </a:p>
        </p:txBody>
      </p:sp>
      <p:sp>
        <p:nvSpPr>
          <p:cNvPr id="16" name="Text Placeholder 5">
            <a:extLst>
              <a:ext uri="{FF2B5EF4-FFF2-40B4-BE49-F238E27FC236}">
                <a16:creationId xmlns:a16="http://schemas.microsoft.com/office/drawing/2014/main" id="{D87B55E6-69F9-4A60-B1EB-57D9288B11A1}"/>
              </a:ext>
            </a:extLst>
          </p:cNvPr>
          <p:cNvSpPr>
            <a:spLocks noGrp="1"/>
          </p:cNvSpPr>
          <p:nvPr>
            <p:ph type="body" sz="quarter" idx="18"/>
          </p:nvPr>
        </p:nvSpPr>
        <p:spPr>
          <a:xfrm>
            <a:off x="459701" y="2174349"/>
            <a:ext cx="2641202" cy="308690"/>
          </a:xfrm>
        </p:spPr>
        <p:txBody>
          <a:bodyPr/>
          <a:lstStyle/>
          <a:p>
            <a:endParaRPr lang="en-US"/>
          </a:p>
        </p:txBody>
      </p:sp>
    </p:spTree>
    <p:extLst>
      <p:ext uri="{BB962C8B-B14F-4D97-AF65-F5344CB8AC3E}">
        <p14:creationId xmlns:p14="http://schemas.microsoft.com/office/powerpoint/2010/main" val="3823256633"/>
      </p:ext>
    </p:extLst>
  </p:cSld>
  <p:clrMapOvr>
    <a:masterClrMapping/>
  </p:clrMapOvr>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26220</TotalTime>
  <Words>1742</Words>
  <Application>Microsoft Office PowerPoint</Application>
  <PresentationFormat>On-screen Show (4:3)</PresentationFormat>
  <Paragraphs>172</Paragraphs>
  <Slides>9</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Arial</vt:lpstr>
      <vt:lpstr>Arial Narrow</vt:lpstr>
      <vt:lpstr>Calibri</vt:lpstr>
      <vt:lpstr>Wingdings</vt:lpstr>
      <vt:lpstr>PPT_Template_2010SummerSchool</vt:lpstr>
      <vt:lpstr>1_UPCRC_Powerpoint_Template_with I-Mark</vt:lpstr>
      <vt:lpstr>PowerPoint Presentation</vt:lpstr>
      <vt:lpstr>iPaaS Technology Adoption Capability Envisioning… </vt:lpstr>
      <vt:lpstr>iPaaS Capability Goals How does this help the business?</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912</cp:revision>
  <cp:lastPrinted>2015-10-11T15:37:17Z</cp:lastPrinted>
  <dcterms:created xsi:type="dcterms:W3CDTF">2010-06-16T02:58:04Z</dcterms:created>
  <dcterms:modified xsi:type="dcterms:W3CDTF">2026-04-22T18:14:14Z</dcterms:modified>
</cp:coreProperties>
</file>